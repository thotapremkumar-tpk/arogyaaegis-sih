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hyperlink" Target="https://archive.ics.uci.edu/dataset/465/wesad+wearable+stress+and+affect+detection" TargetMode="External"/><Relationship Id="rId5" Type="http://schemas.openxmlformats.org/officeDocument/2006/relationships/hyperlink" Target="https://physionet.org/challenge/2017/" TargetMode="External"/><Relationship Id="rId6" Type="http://schemas.openxmlformats.org/officeDocument/2006/relationships/hyperlink" Target="https://physionet.org/content/bidmc/1.0.0/" TargetMode="External"/><Relationship Id="rId7" Type="http://schemas.openxmlformats.org/officeDocument/2006/relationships/hyperlink" Target="https://www.mdpi.com/1424-8220/17/1/198" TargetMode="External"/><Relationship Id="rId8" Type="http://schemas.openxmlformats.org/officeDocument/2006/relationships/hyperlink" Target="https://doi.org/10.13026/zzf8-xv61" TargetMode="External"/><Relationship Id="rId9" Type="http://schemas.openxmlformats.org/officeDocument/2006/relationships/hyperlink" Target="https://www.kaggle.com/datasets/rohanrao/air-quality-data-in-india" TargetMode="External"/><Relationship Id="rId10" Type="http://schemas.openxmlformats.org/officeDocument/2006/relationships/hyperlink" Target="https://github.com/thotapremkumar-tpk/ArogyaAegis-SIH.git"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tribuneindia.com/news/india/india-reports-110-deaths-40-000-heatstroke-cases-this-summer-632500/amp" TargetMode="External"/><Relationship Id="rId4" Type="http://schemas.openxmlformats.org/officeDocument/2006/relationships/hyperlink" Target="https://www.heatwatch.in/report/press-release-new-report-struck-by-heat-a-news-analysis-of-heatstroke-deaths-in-india-in-2024/" TargetMode="External"/><Relationship Id="rId5" Type="http://schemas.openxmlformats.org/officeDocument/2006/relationships/hyperlink" Target="https://www.euronews.com/2026/06/10/heatwaves-are-killing-tens-of-thousands-in-india-officials-are-barely-counting-them" TargetMode="External"/><Relationship Id="rId6" Type="http://schemas.openxmlformats.org/officeDocument/2006/relationships/hyperlink" Target="https://www.etvbharat.com/en/bharat/flood-and-landslide-mha-adopts-preventive-preparedness-enn26061505653" TargetMode="External"/><Relationship Id="rId7" Type="http://schemas.openxmlformats.org/officeDocument/2006/relationships/hyperlink" Target="https://www.frontiersin.org/journals/environmental-health/articles/10.3389/fenvh.2026.1789071/full" TargetMode="External"/><Relationship Id="rId8" Type="http://schemas.openxmlformats.org/officeDocument/2006/relationships/hyperlink" Target="https://pubmed.ncbi.nlm.nih.gov/33357500/" TargetMode="External"/><Relationship Id="rId9" Type="http://schemas.openxmlformats.org/officeDocument/2006/relationships/hyperlink" Target="https://doi.org/10.1016/j.lanwpc.2024.101266" TargetMode="External"/><Relationship Id="rId10" Type="http://schemas.openxmlformats.org/officeDocument/2006/relationships/hyperlink" Target="https://pubmed.ncbi.nlm.nih.gov/36522205/" TargetMode="External"/><Relationship Id="rId11" Type="http://schemas.openxmlformats.org/officeDocument/2006/relationships/hyperlink" Target="https://doi.org/10.3390/bioengineering13050559" TargetMode="External"/><Relationship Id="rId12" Type="http://schemas.openxmlformats.org/officeDocument/2006/relationships/hyperlink" Target="https://doi.org/10.1109/tce.2025.3646489" TargetMode="External"/><Relationship Id="rId13" Type="http://schemas.openxmlformats.org/officeDocument/2006/relationships/hyperlink" Target="https://doi.org/10.51584/ijrias.2026.110200078" TargetMode="External"/><Relationship Id="rId14" Type="http://schemas.openxmlformats.org/officeDocument/2006/relationships/hyperlink" Target="https://doi.org/10.1109/jsen.2025.3563830" TargetMode="External"/><Relationship Id="rId15" Type="http://schemas.openxmlformats.org/officeDocument/2006/relationships/hyperlink" Target="https://doi.org/10.3389/fclim.2026.1843933" TargetMode="External"/><Relationship Id="rId16" Type="http://schemas.openxmlformats.org/officeDocument/2006/relationships/hyperlink" Target="https://doi.org/10.1371/journal.pclm.0000338" TargetMode="External"/><Relationship Id="rId17" Type="http://schemas.openxmlformats.org/officeDocument/2006/relationships/hyperlink" Target="https://doi.org/10.3390/su14169951" TargetMode="External"/><Relationship Id="rId18" Type="http://schemas.openxmlformats.org/officeDocument/2006/relationships/hyperlink" Target="https://pubmed.ncbi.nlm.nih.gov/9688970/" TargetMode="External"/><Relationship Id="rId19" Type="http://schemas.openxmlformats.org/officeDocument/2006/relationships/hyperlink" Target="https://arxiv.org/abs/2405.05611" TargetMode="External"/><Relationship Id="rId20" Type="http://schemas.openxmlformats.org/officeDocument/2006/relationships/hyperlink" Target="https://doi.org/10.1109/tce.2025.3647850" TargetMode="External"/><Relationship Id="rId21" Type="http://schemas.openxmlformats.org/officeDocument/2006/relationships/hyperlink" Target="https://doi.org/10.1007/s10916-017-0854-9" TargetMode="External"/><Relationship Id="rId22" Type="http://schemas.openxmlformats.org/officeDocument/2006/relationships/hyperlink" Target="https://archive.ics.uci.edu/dataset/465/wesad+wearable+stress+and+affect+detection" TargetMode="External"/><Relationship Id="rId23" Type="http://schemas.openxmlformats.org/officeDocument/2006/relationships/hyperlink" Target="https://physionet.org/challenge/2017/" TargetMode="External"/><Relationship Id="rId24" Type="http://schemas.openxmlformats.org/officeDocument/2006/relationships/hyperlink" Target="https://physionet.org/content/bidmc/1.0.0/" TargetMode="External"/><Relationship Id="rId25" Type="http://schemas.openxmlformats.org/officeDocument/2006/relationships/hyperlink" Target="https://www.mdpi.com/1424-8220/17/1/198" TargetMode="External"/><Relationship Id="rId26" Type="http://schemas.openxmlformats.org/officeDocument/2006/relationships/hyperlink" Target="https://www.kaggle.com/datasets/rohanrao/air-quality-data-in-india"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watermark_faded.png"/>
          <p:cNvPicPr>
            <a:picLocks noChangeAspect="1"/>
          </p:cNvPicPr>
          <p:nvPr/>
        </p:nvPicPr>
        <p:blipFill>
          <a:blip r:embed="rId3"/>
          <a:stretch>
            <a:fillRect/>
          </a:stretch>
        </p:blipFill>
        <p:spPr>
          <a:xfrm>
            <a:off x="7620000" y="1498600"/>
            <a:ext cx="3810000" cy="4406900"/>
          </a:xfrm>
          <a:prstGeom prst="rect">
            <a:avLst/>
          </a:prstGeom>
        </p:spPr>
      </p:pic>
      <p:sp>
        <p:nvSpPr>
          <p:cNvPr id="2" name="TextBox 1"/>
          <p:cNvSpPr txBox="1"/>
          <p:nvPr/>
        </p:nvSpPr>
        <p:spPr>
          <a:xfrm>
            <a:off x="482600" y="330200"/>
            <a:ext cx="7620000" cy="558800"/>
          </a:xfrm>
          <a:prstGeom prst="rect">
            <a:avLst/>
          </a:prstGeom>
          <a:noFill/>
        </p:spPr>
        <p:txBody>
          <a:bodyPr wrap="square" lIns="25400" rIns="25400" tIns="12700" bIns="12700" anchor="t">
            <a:spAutoFit/>
          </a:bodyPr>
          <a:lstStyle/>
          <a:p>
            <a:r>
              <a:rPr sz="3000" b="1" i="0">
                <a:solidFill>
                  <a:srgbClr val="1F3864"/>
                </a:solidFill>
                <a:latin typeface="Cambria"/>
              </a:rPr>
              <a:t>SMART INDIA HACKATHON 2026</a:t>
            </a:r>
          </a:p>
        </p:txBody>
      </p:sp>
      <p:pic>
        <p:nvPicPr>
          <p:cNvPr id="3" name="Picture 2" descr="sih_big.png"/>
          <p:cNvPicPr>
            <a:picLocks noChangeAspect="1"/>
          </p:cNvPicPr>
          <p:nvPr/>
        </p:nvPicPr>
        <p:blipFill>
          <a:blip r:embed="rId2"/>
          <a:stretch>
            <a:fillRect/>
          </a:stretch>
        </p:blipFill>
        <p:spPr>
          <a:xfrm>
            <a:off x="9779000" y="152400"/>
            <a:ext cx="2032000" cy="960308"/>
          </a:xfrm>
          <a:prstGeom prst="rect">
            <a:avLst/>
          </a:prstGeom>
        </p:spPr>
      </p:pic>
      <p:sp>
        <p:nvSpPr>
          <p:cNvPr id="5" name="TextBox 4"/>
          <p:cNvSpPr txBox="1"/>
          <p:nvPr/>
        </p:nvSpPr>
        <p:spPr>
          <a:xfrm>
            <a:off x="2286000" y="1333500"/>
            <a:ext cx="7620000" cy="508000"/>
          </a:xfrm>
          <a:prstGeom prst="rect">
            <a:avLst/>
          </a:prstGeom>
          <a:noFill/>
        </p:spPr>
        <p:txBody>
          <a:bodyPr wrap="square" lIns="25400" rIns="25400" tIns="12700" bIns="12700" anchor="t">
            <a:spAutoFit/>
          </a:bodyPr>
          <a:lstStyle/>
          <a:p>
            <a:pPr algn="ctr"/>
            <a:r>
              <a:rPr sz="2600" b="1" i="0">
                <a:solidFill>
                  <a:srgbClr val="1F3864"/>
                </a:solidFill>
                <a:latin typeface="Cambria"/>
              </a:rPr>
              <a:t>TITLE PAGE</a:t>
            </a:r>
          </a:p>
        </p:txBody>
      </p:sp>
      <p:sp>
        <p:nvSpPr>
          <p:cNvPr id="6" name="TextBox 5"/>
          <p:cNvSpPr txBox="1"/>
          <p:nvPr/>
        </p:nvSpPr>
        <p:spPr>
          <a:xfrm>
            <a:off x="635000" y="2159000"/>
            <a:ext cx="8382000" cy="4445000"/>
          </a:xfrm>
          <a:prstGeom prst="rect">
            <a:avLst/>
          </a:prstGeom>
          <a:noFill/>
        </p:spPr>
        <p:txBody>
          <a:bodyPr wrap="square" lIns="25400" rIns="25400" tIns="12700" bIns="12700" anchor="t">
            <a:spAutoFit/>
          </a:bodyPr>
          <a:lstStyle/>
          <a:p>
            <a:pPr>
              <a:lnSpc>
                <a:spcPct val="110000"/>
              </a:lnSpc>
              <a:spcAft>
                <a:spcPts val="1200"/>
              </a:spcAft>
            </a:pPr>
            <a:r>
              <a:rPr sz="1500" b="1" i="0">
                <a:solidFill>
                  <a:srgbClr val="1A1A1A"/>
                </a:solidFill>
                <a:latin typeface="Calibri"/>
              </a:rPr>
              <a:t>Problem Statement ID – </a:t>
            </a:r>
            <a:r>
              <a:rPr sz="1500" b="0" i="0">
                <a:solidFill>
                  <a:srgbClr val="1A1A1A"/>
                </a:solidFill>
                <a:latin typeface="Calibri"/>
              </a:rPr>
              <a:t>SIH26181</a:t>
            </a:r>
          </a:p>
          <a:p>
            <a:pPr>
              <a:lnSpc>
                <a:spcPct val="110000"/>
              </a:lnSpc>
              <a:spcAft>
                <a:spcPts val="1200"/>
              </a:spcAft>
            </a:pPr>
            <a:r>
              <a:rPr sz="1500" b="1" i="0">
                <a:solidFill>
                  <a:srgbClr val="1A1A1A"/>
                </a:solidFill>
                <a:latin typeface="Calibri"/>
              </a:rPr>
              <a:t>Problem Statement Title – </a:t>
            </a:r>
            <a:r>
              <a:rPr sz="1500" b="0" i="0">
                <a:solidFill>
                  <a:srgbClr val="1A1A1A"/>
                </a:solidFill>
                <a:latin typeface="Calibri"/>
              </a:rPr>
              <a:t>A secure, AI-powered Personal Health Companion that delivers real-time, privacy-preserving health monitoring and early warning capabilities, helping individuals recognize health risks before they become emergencies. The solution should improve resilience during heat waves, floods, pollution events, and other disasters common in India while enabling continuous health support through on-device intelligence.</a:t>
            </a:r>
          </a:p>
          <a:p>
            <a:pPr>
              <a:lnSpc>
                <a:spcPct val="110000"/>
              </a:lnSpc>
              <a:spcAft>
                <a:spcPts val="1200"/>
              </a:spcAft>
            </a:pPr>
            <a:r>
              <a:rPr sz="1500" b="1" i="0">
                <a:solidFill>
                  <a:srgbClr val="1A1A1A"/>
                </a:solidFill>
                <a:latin typeface="Calibri"/>
              </a:rPr>
              <a:t>Theme – </a:t>
            </a:r>
            <a:r>
              <a:rPr sz="1500" b="0" i="0">
                <a:solidFill>
                  <a:srgbClr val="1A1A1A"/>
                </a:solidFill>
                <a:latin typeface="Calibri"/>
              </a:rPr>
              <a:t>MedTech / BioTech / HealthTech</a:t>
            </a:r>
          </a:p>
          <a:p>
            <a:pPr>
              <a:lnSpc>
                <a:spcPct val="110000"/>
              </a:lnSpc>
              <a:spcAft>
                <a:spcPts val="1200"/>
              </a:spcAft>
            </a:pPr>
            <a:r>
              <a:rPr sz="1500" b="1" i="0">
                <a:solidFill>
                  <a:srgbClr val="1A1A1A"/>
                </a:solidFill>
                <a:latin typeface="Calibri"/>
              </a:rPr>
              <a:t>PS Category – </a:t>
            </a:r>
            <a:r>
              <a:rPr sz="1500" b="0" i="0">
                <a:solidFill>
                  <a:srgbClr val="1A1A1A"/>
                </a:solidFill>
                <a:latin typeface="Calibri"/>
              </a:rPr>
              <a:t>Hardware</a:t>
            </a:r>
          </a:p>
          <a:p>
            <a:pPr>
              <a:lnSpc>
                <a:spcPct val="110000"/>
              </a:lnSpc>
              <a:spcAft>
                <a:spcPts val="1200"/>
              </a:spcAft>
            </a:pPr>
            <a:r>
              <a:rPr sz="1500" b="1" i="0">
                <a:solidFill>
                  <a:srgbClr val="1A1A1A"/>
                </a:solidFill>
                <a:latin typeface="Calibri"/>
              </a:rPr>
              <a:t>Team ID – </a:t>
            </a:r>
            <a:r>
              <a:rPr sz="1500" b="0" i="0">
                <a:solidFill>
                  <a:srgbClr val="1A1A1A"/>
                </a:solidFill>
                <a:latin typeface="Calibri"/>
              </a:rPr>
              <a:t>—</a:t>
            </a:r>
          </a:p>
          <a:p>
            <a:pPr>
              <a:lnSpc>
                <a:spcPct val="110000"/>
              </a:lnSpc>
              <a:spcAft>
                <a:spcPts val="1200"/>
              </a:spcAft>
            </a:pPr>
            <a:r>
              <a:rPr sz="1500" b="1" i="0">
                <a:solidFill>
                  <a:srgbClr val="1A1A1A"/>
                </a:solidFill>
                <a:latin typeface="Calibri"/>
              </a:rPr>
              <a:t>Team Name (Registered on portal) – </a:t>
            </a:r>
            <a:r>
              <a:rPr sz="1500" b="0" i="0">
                <a:solidFill>
                  <a:srgbClr val="1A1A1A"/>
                </a:solidFill>
                <a:latin typeface="Calibri"/>
              </a:rPr>
              <a:t>ArogyaAegis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317500" y="241300"/>
            <a:ext cx="1422400" cy="482600"/>
          </a:xfrm>
          <a:prstGeom prst="ellipse">
            <a:avLst/>
          </a:prstGeom>
          <a:noFill/>
          <a:ln w="2222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50" b="1" i="1">
                <a:solidFill>
                  <a:srgbClr val="1F3864"/>
                </a:solidFill>
                <a:latin typeface="Cambria"/>
              </a:rPr>
              <a:t>ArogyaAegis</a:t>
            </a:r>
          </a:p>
        </p:txBody>
      </p:sp>
      <p:sp>
        <p:nvSpPr>
          <p:cNvPr id="3" name="TextBox 2"/>
          <p:cNvSpPr txBox="1"/>
          <p:nvPr/>
        </p:nvSpPr>
        <p:spPr>
          <a:xfrm>
            <a:off x="1905000" y="152400"/>
            <a:ext cx="8255000" cy="736600"/>
          </a:xfrm>
          <a:prstGeom prst="rect">
            <a:avLst/>
          </a:prstGeom>
          <a:noFill/>
        </p:spPr>
        <p:txBody>
          <a:bodyPr wrap="square" lIns="25400" rIns="25400" tIns="12700" bIns="12700" anchor="ctr">
            <a:spAutoFit/>
          </a:bodyPr>
          <a:lstStyle/>
          <a:p>
            <a:pPr algn="ctr"/>
            <a:r>
              <a:rPr sz="1700" b="1" i="0">
                <a:solidFill>
                  <a:srgbClr val="1F3864"/>
                </a:solidFill>
                <a:latin typeface="Cambria"/>
              </a:rPr>
              <a:t>ArogyaAegis — Privacy-First AI Health Companion Vest</a:t>
            </a:r>
          </a:p>
          <a:p>
            <a:pPr algn="ctr"/>
            <a:r>
              <a:rPr sz="1700" b="1" i="0">
                <a:solidFill>
                  <a:srgbClr val="1F3864"/>
                </a:solidFill>
                <a:latin typeface="Cambria"/>
              </a:rPr>
              <a:t>for Heat, Pollution &amp; Disaster Resilience</a:t>
            </a:r>
          </a:p>
        </p:txBody>
      </p:sp>
      <p:pic>
        <p:nvPicPr>
          <p:cNvPr id="4" name="Picture 3" descr="sih_logo.png"/>
          <p:cNvPicPr>
            <a:picLocks noChangeAspect="1"/>
          </p:cNvPicPr>
          <p:nvPr/>
        </p:nvPicPr>
        <p:blipFill>
          <a:blip r:embed="rId2"/>
          <a:stretch>
            <a:fillRect/>
          </a:stretch>
        </p:blipFill>
        <p:spPr>
          <a:xfrm>
            <a:off x="10312400" y="101600"/>
            <a:ext cx="1574800" cy="743739"/>
          </a:xfrm>
          <a:prstGeom prst="rect">
            <a:avLst/>
          </a:prstGeom>
        </p:spPr>
      </p:pic>
      <p:cxnSp>
        <p:nvCxnSpPr>
          <p:cNvPr id="5" name="Connector 4"/>
          <p:cNvCxnSpPr/>
          <p:nvPr/>
        </p:nvCxnSpPr>
        <p:spPr>
          <a:xfrm>
            <a:off x="317500" y="965200"/>
            <a:ext cx="11557000" cy="0"/>
          </a:xfrm>
          <a:prstGeom prst="line">
            <a:avLst/>
          </a:prstGeom>
          <a:ln w="19050">
            <a:solidFill>
              <a:srgbClr val="1F6FB2"/>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430000" y="6540500"/>
            <a:ext cx="508000" cy="203200"/>
          </a:xfrm>
          <a:prstGeom prst="rect">
            <a:avLst/>
          </a:prstGeom>
          <a:noFill/>
        </p:spPr>
        <p:txBody>
          <a:bodyPr wrap="square" lIns="25400" rIns="25400" tIns="12700" bIns="12700" anchor="t">
            <a:spAutoFit/>
          </a:bodyPr>
          <a:lstStyle/>
          <a:p>
            <a:pPr algn="r"/>
            <a:r>
              <a:rPr sz="900" b="0" i="0">
                <a:solidFill>
                  <a:srgbClr val="595959"/>
                </a:solidFill>
                <a:latin typeface="Calibri"/>
              </a:rPr>
              <a:t>2</a:t>
            </a:r>
          </a:p>
        </p:txBody>
      </p:sp>
      <p:sp>
        <p:nvSpPr>
          <p:cNvPr id="7" name="TextBox 6"/>
          <p:cNvSpPr txBox="1"/>
          <p:nvPr/>
        </p:nvSpPr>
        <p:spPr>
          <a:xfrm>
            <a:off x="381000" y="1066800"/>
            <a:ext cx="3810000" cy="228600"/>
          </a:xfrm>
          <a:prstGeom prst="rect">
            <a:avLst/>
          </a:prstGeom>
          <a:noFill/>
        </p:spPr>
        <p:txBody>
          <a:bodyPr wrap="square" lIns="25400" rIns="25400" tIns="12700" bIns="12700" anchor="t">
            <a:spAutoFit/>
          </a:bodyPr>
          <a:lstStyle/>
          <a:p>
            <a:r>
              <a:rPr sz="1250" b="1" i="0" u="sng">
                <a:solidFill>
                  <a:srgbClr val="1F6FB2"/>
                </a:solidFill>
                <a:latin typeface="Calibri"/>
              </a:rPr>
              <a:t>Problem:</a:t>
            </a:r>
          </a:p>
        </p:txBody>
      </p:sp>
      <p:sp>
        <p:nvSpPr>
          <p:cNvPr id="8" name="TextBox 7"/>
          <p:cNvSpPr txBox="1"/>
          <p:nvPr/>
        </p:nvSpPr>
        <p:spPr>
          <a:xfrm>
            <a:off x="381000" y="1320800"/>
            <a:ext cx="5588000" cy="1524000"/>
          </a:xfrm>
          <a:prstGeom prst="rect">
            <a:avLst/>
          </a:prstGeom>
          <a:noFill/>
        </p:spPr>
        <p:txBody>
          <a:bodyPr wrap="square" lIns="25400" rIns="25400" tIns="12700" bIns="12700" anchor="t">
            <a:spAutoFit/>
          </a:bodyPr>
          <a:lstStyle/>
          <a:p>
            <a:pPr>
              <a:spcAft>
                <a:spcPts val="350"/>
              </a:spcAft>
            </a:pPr>
            <a:r>
              <a:rPr sz="1080" b="1" i="0">
                <a:solidFill>
                  <a:srgbClr val="1A1A1A"/>
                </a:solidFill>
                <a:latin typeface="Calibri"/>
              </a:rPr>
              <a:t>People do not notice heat stress, dehydration or breathing trouble until it becomes an emergency — and during heat waves, floods and smog, help is hardest to reach. </a:t>
            </a:r>
            <a:r>
              <a:rPr sz="1080" b="0" i="0">
                <a:solidFill>
                  <a:srgbClr val="1A1A1A"/>
                </a:solidFill>
                <a:latin typeface="Calibri"/>
              </a:rPr>
              <a:t>In 2024 India logged 40,000+ suspected heatstroke cases (MoHFW); news reports counted 733 heat deaths vs 360 official (HeatWatch). One 5-day heatwave can cause ~30,000 excess deaths (Frontiers, 2026), and air pollution caused 1.67 M deaths in 2019 (Lancet Planetary Health).</a:t>
            </a:r>
          </a:p>
        </p:txBody>
      </p:sp>
      <p:cxnSp>
        <p:nvCxnSpPr>
          <p:cNvPr id="9" name="Connector 8"/>
          <p:cNvCxnSpPr/>
          <p:nvPr/>
        </p:nvCxnSpPr>
        <p:spPr>
          <a:xfrm>
            <a:off x="6096000" y="1066800"/>
            <a:ext cx="0" cy="1803400"/>
          </a:xfrm>
          <a:prstGeom prst="line">
            <a:avLst/>
          </a:prstGeom>
          <a:ln w="12700">
            <a:solidFill>
              <a:srgbClr val="B05450"/>
            </a:solidFill>
            <a:prstDash val="dash"/>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248400" y="1066800"/>
            <a:ext cx="3810000" cy="228600"/>
          </a:xfrm>
          <a:prstGeom prst="rect">
            <a:avLst/>
          </a:prstGeom>
          <a:noFill/>
        </p:spPr>
        <p:txBody>
          <a:bodyPr wrap="square" lIns="25400" rIns="25400" tIns="12700" bIns="12700" anchor="t">
            <a:spAutoFit/>
          </a:bodyPr>
          <a:lstStyle/>
          <a:p>
            <a:r>
              <a:rPr sz="1250" b="1" i="0" u="sng">
                <a:solidFill>
                  <a:srgbClr val="1F6FB2"/>
                </a:solidFill>
                <a:latin typeface="Calibri"/>
              </a:rPr>
              <a:t>Our Idea:</a:t>
            </a:r>
          </a:p>
        </p:txBody>
      </p:sp>
      <p:sp>
        <p:nvSpPr>
          <p:cNvPr id="11" name="TextBox 10"/>
          <p:cNvSpPr txBox="1"/>
          <p:nvPr/>
        </p:nvSpPr>
        <p:spPr>
          <a:xfrm>
            <a:off x="6248400" y="1320800"/>
            <a:ext cx="5588000" cy="1524000"/>
          </a:xfrm>
          <a:prstGeom prst="rect">
            <a:avLst/>
          </a:prstGeom>
          <a:noFill/>
        </p:spPr>
        <p:txBody>
          <a:bodyPr wrap="square" lIns="25400" rIns="25400" tIns="12700" bIns="12700" anchor="t">
            <a:spAutoFit/>
          </a:bodyPr>
          <a:lstStyle/>
          <a:p>
            <a:pPr>
              <a:spcAft>
                <a:spcPts val="350"/>
              </a:spcAft>
            </a:pPr>
            <a:r>
              <a:rPr sz="1080" b="1" i="0">
                <a:solidFill>
                  <a:srgbClr val="1A1A1A"/>
                </a:solidFill>
                <a:latin typeface="Calibri"/>
              </a:rPr>
              <a:t>ArogyaAegis</a:t>
            </a:r>
            <a:r>
              <a:rPr sz="1080" b="0" i="0">
                <a:solidFill>
                  <a:srgbClr val="1A1A1A"/>
                </a:solidFill>
                <a:latin typeface="Calibri"/>
              </a:rPr>
              <a:t> is a smart vest with 9 body and environment sensors and an ESP32-S3 running </a:t>
            </a:r>
            <a:r>
              <a:rPr sz="1080" b="1" i="0">
                <a:solidFill>
                  <a:srgbClr val="1A1A1A"/>
                </a:solidFill>
                <a:latin typeface="Calibri"/>
              </a:rPr>
              <a:t>TinyML on-device</a:t>
            </a:r>
            <a:r>
              <a:rPr sz="1080" b="0" i="0">
                <a:solidFill>
                  <a:srgbClr val="1A1A1A"/>
                </a:solidFill>
                <a:latin typeface="Calibri"/>
              </a:rPr>
              <a:t>. It combines the wearer’s own vitals with local heat, humidity and PM2.5 to give </a:t>
            </a:r>
            <a:r>
              <a:rPr sz="1080" b="1" i="0">
                <a:solidFill>
                  <a:srgbClr val="1A1A1A"/>
                </a:solidFill>
                <a:latin typeface="Calibri"/>
              </a:rPr>
              <a:t>graded early warnings and auto-SOS</a:t>
            </a:r>
            <a:r>
              <a:rPr sz="1080" b="0" i="0">
                <a:solidFill>
                  <a:srgbClr val="1A1A1A"/>
                </a:solidFill>
                <a:latin typeface="Calibri"/>
              </a:rPr>
              <a:t> — working offline, with raw health data never leaving the vest.</a:t>
            </a:r>
          </a:p>
        </p:txBody>
      </p:sp>
      <p:cxnSp>
        <p:nvCxnSpPr>
          <p:cNvPr id="12" name="Connector 11"/>
          <p:cNvCxnSpPr/>
          <p:nvPr/>
        </p:nvCxnSpPr>
        <p:spPr>
          <a:xfrm>
            <a:off x="317500" y="2908300"/>
            <a:ext cx="11557000" cy="0"/>
          </a:xfrm>
          <a:prstGeom prst="line">
            <a:avLst/>
          </a:prstGeom>
          <a:ln w="12700">
            <a:solidFill>
              <a:srgbClr val="B05450"/>
            </a:solidFill>
            <a:prstDash val="dash"/>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81000" y="2997200"/>
            <a:ext cx="3048000" cy="228600"/>
          </a:xfrm>
          <a:prstGeom prst="rect">
            <a:avLst/>
          </a:prstGeom>
          <a:noFill/>
        </p:spPr>
        <p:txBody>
          <a:bodyPr wrap="square" lIns="25400" rIns="25400" tIns="12700" bIns="12700" anchor="t">
            <a:spAutoFit/>
          </a:bodyPr>
          <a:lstStyle/>
          <a:p>
            <a:r>
              <a:rPr sz="1250" b="1" i="0" u="sng">
                <a:solidFill>
                  <a:srgbClr val="1F6FB2"/>
                </a:solidFill>
                <a:latin typeface="Calibri"/>
              </a:rPr>
              <a:t>Proposed Solution:</a:t>
            </a:r>
          </a:p>
        </p:txBody>
      </p:sp>
      <p:sp>
        <p:nvSpPr>
          <p:cNvPr id="14" name="TextBox 13"/>
          <p:cNvSpPr txBox="1"/>
          <p:nvPr/>
        </p:nvSpPr>
        <p:spPr>
          <a:xfrm>
            <a:off x="381000" y="3251200"/>
            <a:ext cx="3048000" cy="3429000"/>
          </a:xfrm>
          <a:prstGeom prst="rect">
            <a:avLst/>
          </a:prstGeom>
          <a:noFill/>
        </p:spPr>
        <p:txBody>
          <a:bodyPr wrap="square" lIns="25400" rIns="25400" tIns="12700" bIns="12700" anchor="t">
            <a:spAutoFit/>
          </a:bodyPr>
          <a:lstStyle/>
          <a:p>
            <a:pPr>
              <a:spcAft>
                <a:spcPts val="300"/>
              </a:spcAft>
            </a:pPr>
            <a:r>
              <a:rPr sz="830" b="1" i="0">
                <a:solidFill>
                  <a:srgbClr val="1A1A1A"/>
                </a:solidFill>
                <a:latin typeface="Calibri"/>
              </a:rPr>
              <a:t>•  </a:t>
            </a:r>
            <a:r>
              <a:rPr sz="830" b="1" i="0">
                <a:solidFill>
                  <a:srgbClr val="1A1A1A"/>
                </a:solidFill>
                <a:latin typeface="Calibri"/>
              </a:rPr>
              <a:t>Senses continuously</a:t>
            </a:r>
            <a:r>
              <a:rPr sz="830" b="0" i="0">
                <a:solidFill>
                  <a:srgbClr val="1A1A1A"/>
                </a:solidFill>
                <a:latin typeface="Calibri"/>
              </a:rPr>
              <a:t>: ECG, PPG/SpO₂, skin temperature, sweat (GSR), motion and breathing, plus air heat, humidity and PM2.5.</a:t>
            </a:r>
          </a:p>
          <a:p>
            <a:pPr>
              <a:spcAft>
                <a:spcPts val="300"/>
              </a:spcAft>
            </a:pPr>
            <a:r>
              <a:rPr sz="830" b="1" i="0">
                <a:solidFill>
                  <a:srgbClr val="1A1A1A"/>
                </a:solidFill>
                <a:latin typeface="Calibri"/>
              </a:rPr>
              <a:t>•  </a:t>
            </a:r>
            <a:r>
              <a:rPr sz="830" b="1" i="0">
                <a:solidFill>
                  <a:srgbClr val="1A1A1A"/>
                </a:solidFill>
                <a:latin typeface="Calibri"/>
              </a:rPr>
              <a:t>On-device TinyML</a:t>
            </a:r>
            <a:r>
              <a:rPr sz="830" b="0" i="0">
                <a:solidFill>
                  <a:srgbClr val="1A1A1A"/>
                </a:solidFill>
                <a:latin typeface="Calibri"/>
              </a:rPr>
              <a:t> learns each wearer’s baseline and scores heat-stress, dehydration, respiratory, cardiac and fall risk every second.</a:t>
            </a:r>
          </a:p>
          <a:p>
            <a:pPr>
              <a:spcAft>
                <a:spcPts val="300"/>
              </a:spcAft>
            </a:pPr>
            <a:r>
              <a:rPr sz="830" b="1" i="0">
                <a:solidFill>
                  <a:srgbClr val="1A1A1A"/>
                </a:solidFill>
                <a:latin typeface="Calibri"/>
              </a:rPr>
              <a:t>•  </a:t>
            </a:r>
            <a:r>
              <a:rPr sz="830" b="1" i="0">
                <a:solidFill>
                  <a:srgbClr val="1A1A1A"/>
                </a:solidFill>
                <a:latin typeface="Calibri"/>
              </a:rPr>
              <a:t>Graded alerts</a:t>
            </a:r>
            <a:r>
              <a:rPr sz="830" b="0" i="0">
                <a:solidFill>
                  <a:srgbClr val="1A1A1A"/>
                </a:solidFill>
                <a:latin typeface="Calibri"/>
              </a:rPr>
              <a:t> (Normal → Pre-warning → Level 1–3) through silent vibration, OLED status and buzzer — no phone needed.</a:t>
            </a:r>
          </a:p>
          <a:p>
            <a:pPr>
              <a:spcAft>
                <a:spcPts val="300"/>
              </a:spcAft>
            </a:pPr>
            <a:r>
              <a:rPr sz="830" b="1" i="0">
                <a:solidFill>
                  <a:srgbClr val="1A1A1A"/>
                </a:solidFill>
                <a:latin typeface="Calibri"/>
              </a:rPr>
              <a:t>•  </a:t>
            </a:r>
            <a:r>
              <a:rPr sz="830" b="1" i="0">
                <a:solidFill>
                  <a:srgbClr val="1A1A1A"/>
                </a:solidFill>
                <a:latin typeface="Calibri"/>
              </a:rPr>
              <a:t>Auto-SOS</a:t>
            </a:r>
            <a:r>
              <a:rPr sz="830" b="0" i="0">
                <a:solidFill>
                  <a:srgbClr val="1A1A1A"/>
                </a:solidFill>
                <a:latin typeface="Calibri"/>
              </a:rPr>
              <a:t>: a fall or an unanswered alert starts a 30-s countdown, then SMS with GPS to caregivers / ASHA workers — no mobile data required.</a:t>
            </a:r>
          </a:p>
          <a:p>
            <a:pPr>
              <a:spcAft>
                <a:spcPts val="300"/>
              </a:spcAft>
            </a:pPr>
            <a:r>
              <a:rPr sz="830" b="1" i="0">
                <a:solidFill>
                  <a:srgbClr val="1A1A1A"/>
                </a:solidFill>
                <a:latin typeface="Calibri"/>
              </a:rPr>
              <a:t>•  </a:t>
            </a:r>
            <a:r>
              <a:rPr sz="830" b="1" i="0">
                <a:solidFill>
                  <a:srgbClr val="1A1A1A"/>
                </a:solidFill>
                <a:latin typeface="Calibri"/>
              </a:rPr>
              <a:t>BLE companion app</a:t>
            </a:r>
            <a:r>
              <a:rPr sz="830" b="0" i="0">
                <a:solidFill>
                  <a:srgbClr val="1A1A1A"/>
                </a:solidFill>
                <a:latin typeface="Calibri"/>
              </a:rPr>
              <a:t> shows daily summaries and caches IMD heat and CPCB air-quality alerts for offline use.</a:t>
            </a:r>
          </a:p>
          <a:p>
            <a:pPr>
              <a:spcAft>
                <a:spcPts val="300"/>
              </a:spcAft>
            </a:pPr>
            <a:r>
              <a:rPr sz="830" b="1" i="0">
                <a:solidFill>
                  <a:srgbClr val="1A1A1A"/>
                </a:solidFill>
                <a:latin typeface="Calibri"/>
              </a:rPr>
              <a:t>•  </a:t>
            </a:r>
            <a:r>
              <a:rPr sz="830" b="1" i="0">
                <a:solidFill>
                  <a:srgbClr val="1A1A1A"/>
                </a:solidFill>
                <a:latin typeface="Calibri"/>
              </a:rPr>
              <a:t>Private by design</a:t>
            </a:r>
            <a:r>
              <a:rPr sz="830" b="0" i="0">
                <a:solidFill>
                  <a:srgbClr val="1A1A1A"/>
                </a:solidFill>
                <a:latin typeface="Calibri"/>
              </a:rPr>
              <a:t>: only alerts and user-approved summaries leave the vest; logs are encrypted on microSD.</a:t>
            </a:r>
          </a:p>
        </p:txBody>
      </p:sp>
      <p:cxnSp>
        <p:nvCxnSpPr>
          <p:cNvPr id="15" name="Connector 14"/>
          <p:cNvCxnSpPr/>
          <p:nvPr/>
        </p:nvCxnSpPr>
        <p:spPr>
          <a:xfrm>
            <a:off x="3505200" y="2997200"/>
            <a:ext cx="0" cy="3683000"/>
          </a:xfrm>
          <a:prstGeom prst="line">
            <a:avLst/>
          </a:prstGeom>
          <a:ln w="12700">
            <a:solidFill>
              <a:srgbClr val="B05450"/>
            </a:solidFill>
            <a:prstDash val="dash"/>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606800" y="2997200"/>
            <a:ext cx="4673600" cy="228600"/>
          </a:xfrm>
          <a:prstGeom prst="rect">
            <a:avLst/>
          </a:prstGeom>
          <a:noFill/>
        </p:spPr>
        <p:txBody>
          <a:bodyPr wrap="square" lIns="25400" rIns="25400" tIns="12700" bIns="12700" anchor="t">
            <a:spAutoFit/>
          </a:bodyPr>
          <a:lstStyle/>
          <a:p>
            <a:pPr algn="ctr"/>
            <a:r>
              <a:rPr sz="1100" b="1" i="0" u="sng">
                <a:solidFill>
                  <a:srgbClr val="1F6FB2"/>
                </a:solidFill>
                <a:latin typeface="Calibri"/>
              </a:rPr>
              <a:t>System Architecture</a:t>
            </a:r>
          </a:p>
        </p:txBody>
      </p:sp>
      <p:pic>
        <p:nvPicPr>
          <p:cNvPr id="17" name="Picture 16" descr="arch_slide.png"/>
          <p:cNvPicPr>
            <a:picLocks noChangeAspect="1"/>
          </p:cNvPicPr>
          <p:nvPr/>
        </p:nvPicPr>
        <p:blipFill>
          <a:blip r:embed="rId3"/>
          <a:stretch>
            <a:fillRect/>
          </a:stretch>
        </p:blipFill>
        <p:spPr>
          <a:xfrm>
            <a:off x="3759200" y="3251200"/>
            <a:ext cx="4318000" cy="3408947"/>
          </a:xfrm>
          <a:prstGeom prst="rect">
            <a:avLst/>
          </a:prstGeom>
        </p:spPr>
      </p:pic>
      <p:cxnSp>
        <p:nvCxnSpPr>
          <p:cNvPr id="18" name="Connector 17"/>
          <p:cNvCxnSpPr/>
          <p:nvPr/>
        </p:nvCxnSpPr>
        <p:spPr>
          <a:xfrm>
            <a:off x="8356600" y="2997200"/>
            <a:ext cx="0" cy="3683000"/>
          </a:xfrm>
          <a:prstGeom prst="line">
            <a:avLst/>
          </a:prstGeom>
          <a:ln w="12700">
            <a:solidFill>
              <a:srgbClr val="B05450"/>
            </a:solidFill>
            <a:prstDash val="dash"/>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458200" y="2997200"/>
            <a:ext cx="3429000" cy="228600"/>
          </a:xfrm>
          <a:prstGeom prst="rect">
            <a:avLst/>
          </a:prstGeom>
          <a:noFill/>
        </p:spPr>
        <p:txBody>
          <a:bodyPr wrap="square" lIns="25400" rIns="25400" tIns="12700" bIns="12700" anchor="t">
            <a:spAutoFit/>
          </a:bodyPr>
          <a:lstStyle/>
          <a:p>
            <a:r>
              <a:rPr sz="1250" b="1" i="0" u="sng">
                <a:solidFill>
                  <a:srgbClr val="1F6FB2"/>
                </a:solidFill>
                <a:latin typeface="Calibri"/>
              </a:rPr>
              <a:t>Innovation / Uniqueness:</a:t>
            </a:r>
          </a:p>
        </p:txBody>
      </p:sp>
      <p:sp>
        <p:nvSpPr>
          <p:cNvPr id="20" name="TextBox 19"/>
          <p:cNvSpPr txBox="1"/>
          <p:nvPr/>
        </p:nvSpPr>
        <p:spPr>
          <a:xfrm>
            <a:off x="8458200" y="3251200"/>
            <a:ext cx="3429000" cy="3429000"/>
          </a:xfrm>
          <a:prstGeom prst="rect">
            <a:avLst/>
          </a:prstGeom>
          <a:noFill/>
        </p:spPr>
        <p:txBody>
          <a:bodyPr wrap="square" lIns="25400" rIns="25400" tIns="12700" bIns="12700" anchor="t">
            <a:spAutoFit/>
          </a:bodyPr>
          <a:lstStyle/>
          <a:p>
            <a:pPr>
              <a:spcAft>
                <a:spcPts val="400"/>
              </a:spcAft>
            </a:pPr>
            <a:r>
              <a:rPr sz="890" b="1" i="0">
                <a:solidFill>
                  <a:srgbClr val="1A1A1A"/>
                </a:solidFill>
                <a:latin typeface="Calibri"/>
              </a:rPr>
              <a:t>•  </a:t>
            </a:r>
            <a:r>
              <a:rPr sz="890" b="1" i="0">
                <a:solidFill>
                  <a:srgbClr val="1A1A1A"/>
                </a:solidFill>
                <a:latin typeface="Calibri"/>
              </a:rPr>
              <a:t>Body + environment in one risk score</a:t>
            </a:r>
            <a:r>
              <a:rPr sz="890" b="0" i="0">
                <a:solidFill>
                  <a:srgbClr val="1A1A1A"/>
                </a:solidFill>
                <a:latin typeface="Calibri"/>
              </a:rPr>
              <a:t> — 17 of 18 climate-health ML studies used weather data only, and none modelled flood-health outcomes (Ayaz, 2026).</a:t>
            </a:r>
          </a:p>
          <a:p>
            <a:pPr>
              <a:spcAft>
                <a:spcPts val="400"/>
              </a:spcAft>
            </a:pPr>
            <a:r>
              <a:rPr sz="890" b="1" i="0">
                <a:solidFill>
                  <a:srgbClr val="1A1A1A"/>
                </a:solidFill>
                <a:latin typeface="Calibri"/>
              </a:rPr>
              <a:t>•  </a:t>
            </a:r>
            <a:r>
              <a:rPr sz="890" b="1" i="0">
                <a:solidFill>
                  <a:srgbClr val="1A1A1A"/>
                </a:solidFill>
                <a:latin typeface="Calibri"/>
              </a:rPr>
              <a:t>Chest-worn, not a wristband</a:t>
            </a:r>
            <a:r>
              <a:rPr sz="890" b="0" i="0">
                <a:solidFill>
                  <a:srgbClr val="1A1A1A"/>
                </a:solidFill>
                <a:latin typeface="Calibri"/>
              </a:rPr>
              <a:t> — true ECG for AF detection, breathing from chest motion, and armpit skin temperature as a core-temperature proxy.</a:t>
            </a:r>
          </a:p>
          <a:p>
            <a:pPr>
              <a:spcAft>
                <a:spcPts val="400"/>
              </a:spcAft>
            </a:pPr>
            <a:r>
              <a:rPr sz="890" b="1" i="0">
                <a:solidFill>
                  <a:srgbClr val="1A1A1A"/>
                </a:solidFill>
                <a:latin typeface="Calibri"/>
              </a:rPr>
              <a:t>•  </a:t>
            </a:r>
            <a:r>
              <a:rPr sz="890" b="1" i="0">
                <a:solidFill>
                  <a:srgbClr val="1A1A1A"/>
                </a:solidFill>
                <a:latin typeface="Calibri"/>
              </a:rPr>
              <a:t>Graded, explainable heat alerts</a:t>
            </a:r>
            <a:r>
              <a:rPr sz="890" b="0" i="0">
                <a:solidFill>
                  <a:srgbClr val="1A1A1A"/>
                </a:solidFill>
                <a:latin typeface="Calibri"/>
              </a:rPr>
              <a:t> modelled on the HHSEW warning system (Lancet RH-WP, 2025) and the Physiological Strain Index.</a:t>
            </a:r>
          </a:p>
          <a:p>
            <a:pPr>
              <a:spcAft>
                <a:spcPts val="400"/>
              </a:spcAft>
            </a:pPr>
            <a:r>
              <a:rPr sz="890" b="1" i="0">
                <a:solidFill>
                  <a:srgbClr val="1A1A1A"/>
                </a:solidFill>
                <a:latin typeface="Calibri"/>
              </a:rPr>
              <a:t>•  </a:t>
            </a:r>
            <a:r>
              <a:rPr sz="890" b="1" i="0">
                <a:solidFill>
                  <a:srgbClr val="1A1A1A"/>
                </a:solidFill>
                <a:latin typeface="Calibri"/>
              </a:rPr>
              <a:t>Offline-first edge AI</a:t>
            </a:r>
            <a:r>
              <a:rPr sz="890" b="0" i="0">
                <a:solidFill>
                  <a:srgbClr val="1A1A1A"/>
                </a:solidFill>
                <a:latin typeface="Calibri"/>
              </a:rPr>
              <a:t> — no raw-data upload, SMS fallback, battery power: built for network and power outages during disasters.</a:t>
            </a:r>
          </a:p>
          <a:p>
            <a:pPr>
              <a:spcAft>
                <a:spcPts val="400"/>
              </a:spcAft>
            </a:pPr>
            <a:r>
              <a:rPr sz="890" b="1" i="0">
                <a:solidFill>
                  <a:srgbClr val="1A1A1A"/>
                </a:solidFill>
                <a:latin typeface="Calibri"/>
              </a:rPr>
              <a:t>•  </a:t>
            </a:r>
            <a:r>
              <a:rPr sz="890" b="1" i="0">
                <a:solidFill>
                  <a:srgbClr val="1A1A1A"/>
                </a:solidFill>
                <a:latin typeface="Calibri"/>
              </a:rPr>
              <a:t>Silent haptic alerts</a:t>
            </a:r>
            <a:r>
              <a:rPr sz="890" b="0" i="0">
                <a:solidFill>
                  <a:srgbClr val="1A1A1A"/>
                </a:solidFill>
                <a:latin typeface="Calibri"/>
              </a:rPr>
              <a:t> (chest + back) usable by the elderly, on noisy worksites and by low-literacy users; app in regional languages.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317500" y="241300"/>
            <a:ext cx="1422400" cy="482600"/>
          </a:xfrm>
          <a:prstGeom prst="ellipse">
            <a:avLst/>
          </a:prstGeom>
          <a:noFill/>
          <a:ln w="2222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50" b="1" i="1">
                <a:solidFill>
                  <a:srgbClr val="1F3864"/>
                </a:solidFill>
                <a:latin typeface="Cambria"/>
              </a:rPr>
              <a:t>ArogyaAegis</a:t>
            </a:r>
          </a:p>
        </p:txBody>
      </p:sp>
      <p:sp>
        <p:nvSpPr>
          <p:cNvPr id="3" name="TextBox 2"/>
          <p:cNvSpPr txBox="1"/>
          <p:nvPr/>
        </p:nvSpPr>
        <p:spPr>
          <a:xfrm>
            <a:off x="1905000" y="152400"/>
            <a:ext cx="8255000" cy="736600"/>
          </a:xfrm>
          <a:prstGeom prst="rect">
            <a:avLst/>
          </a:prstGeom>
          <a:noFill/>
        </p:spPr>
        <p:txBody>
          <a:bodyPr wrap="square" lIns="25400" rIns="25400" tIns="12700" bIns="12700" anchor="ctr">
            <a:spAutoFit/>
          </a:bodyPr>
          <a:lstStyle/>
          <a:p>
            <a:pPr algn="ctr"/>
            <a:r>
              <a:rPr sz="2600" b="1" i="0">
                <a:solidFill>
                  <a:srgbClr val="1F3864"/>
                </a:solidFill>
                <a:latin typeface="Cambria"/>
              </a:rPr>
              <a:t>TECHNICAL APPROACH</a:t>
            </a:r>
          </a:p>
        </p:txBody>
      </p:sp>
      <p:pic>
        <p:nvPicPr>
          <p:cNvPr id="4" name="Picture 3" descr="sih_logo.png"/>
          <p:cNvPicPr>
            <a:picLocks noChangeAspect="1"/>
          </p:cNvPicPr>
          <p:nvPr/>
        </p:nvPicPr>
        <p:blipFill>
          <a:blip r:embed="rId2"/>
          <a:stretch>
            <a:fillRect/>
          </a:stretch>
        </p:blipFill>
        <p:spPr>
          <a:xfrm>
            <a:off x="10312400" y="101600"/>
            <a:ext cx="1574800" cy="743739"/>
          </a:xfrm>
          <a:prstGeom prst="rect">
            <a:avLst/>
          </a:prstGeom>
        </p:spPr>
      </p:pic>
      <p:cxnSp>
        <p:nvCxnSpPr>
          <p:cNvPr id="5" name="Connector 4"/>
          <p:cNvCxnSpPr/>
          <p:nvPr/>
        </p:nvCxnSpPr>
        <p:spPr>
          <a:xfrm>
            <a:off x="317500" y="965200"/>
            <a:ext cx="11557000" cy="0"/>
          </a:xfrm>
          <a:prstGeom prst="line">
            <a:avLst/>
          </a:prstGeom>
          <a:ln w="19050">
            <a:solidFill>
              <a:srgbClr val="1F6FB2"/>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430000" y="6540500"/>
            <a:ext cx="508000" cy="203200"/>
          </a:xfrm>
          <a:prstGeom prst="rect">
            <a:avLst/>
          </a:prstGeom>
          <a:noFill/>
        </p:spPr>
        <p:txBody>
          <a:bodyPr wrap="square" lIns="25400" rIns="25400" tIns="12700" bIns="12700" anchor="t">
            <a:spAutoFit/>
          </a:bodyPr>
          <a:lstStyle/>
          <a:p>
            <a:pPr algn="r"/>
            <a:r>
              <a:rPr sz="900" b="0" i="0">
                <a:solidFill>
                  <a:srgbClr val="595959"/>
                </a:solidFill>
                <a:latin typeface="Calibri"/>
              </a:rPr>
              <a:t>3</a:t>
            </a:r>
          </a:p>
        </p:txBody>
      </p:sp>
      <p:sp>
        <p:nvSpPr>
          <p:cNvPr id="7" name="TextBox 6"/>
          <p:cNvSpPr txBox="1"/>
          <p:nvPr/>
        </p:nvSpPr>
        <p:spPr>
          <a:xfrm>
            <a:off x="381000" y="1054100"/>
            <a:ext cx="2921000" cy="228600"/>
          </a:xfrm>
          <a:prstGeom prst="rect">
            <a:avLst/>
          </a:prstGeom>
          <a:noFill/>
        </p:spPr>
        <p:txBody>
          <a:bodyPr wrap="square" lIns="25400" rIns="25400" tIns="12700" bIns="12700" anchor="t">
            <a:spAutoFit/>
          </a:bodyPr>
          <a:lstStyle/>
          <a:p>
            <a:r>
              <a:rPr sz="1250" b="1" i="0" u="sng">
                <a:solidFill>
                  <a:srgbClr val="1F6FB2"/>
                </a:solidFill>
                <a:latin typeface="Calibri"/>
              </a:rPr>
              <a:t>Key Technologies</a:t>
            </a:r>
          </a:p>
        </p:txBody>
      </p:sp>
      <p:sp>
        <p:nvSpPr>
          <p:cNvPr id="8" name="TextBox 7"/>
          <p:cNvSpPr txBox="1"/>
          <p:nvPr/>
        </p:nvSpPr>
        <p:spPr>
          <a:xfrm>
            <a:off x="381000" y="1295400"/>
            <a:ext cx="2946400" cy="5334000"/>
          </a:xfrm>
          <a:prstGeom prst="rect">
            <a:avLst/>
          </a:prstGeom>
          <a:noFill/>
        </p:spPr>
        <p:txBody>
          <a:bodyPr wrap="square" lIns="25400" rIns="25400" tIns="12700" bIns="12700" anchor="t">
            <a:spAutoFit/>
          </a:bodyPr>
          <a:lstStyle/>
          <a:p>
            <a:pPr>
              <a:spcBef>
                <a:spcPts val="200"/>
              </a:spcBef>
              <a:spcAft>
                <a:spcPts val="100"/>
              </a:spcAft>
            </a:pPr>
            <a:r>
              <a:rPr sz="760" b="1" i="0">
                <a:solidFill>
                  <a:srgbClr val="1F6FB2"/>
                </a:solidFill>
                <a:latin typeface="Calibri"/>
              </a:rPr>
              <a:t>SENSING LAYER</a:t>
            </a:r>
          </a:p>
          <a:p>
            <a:pPr>
              <a:spcAft>
                <a:spcPts val="150"/>
              </a:spcAft>
            </a:pPr>
            <a:r>
              <a:rPr sz="720" b="1" i="0">
                <a:solidFill>
                  <a:srgbClr val="1A1A1A"/>
                </a:solidFill>
                <a:latin typeface="Calibri"/>
              </a:rPr>
              <a:t>AD8232 ECG front end: </a:t>
            </a:r>
            <a:r>
              <a:rPr sz="720" b="0" i="0">
                <a:solidFill>
                  <a:srgbClr val="1A1A1A"/>
                </a:solidFill>
                <a:latin typeface="Calibri"/>
              </a:rPr>
              <a:t>single-lead heart rhythm, HRV and ECG-derived breathing rate.</a:t>
            </a:r>
          </a:p>
          <a:p>
            <a:pPr>
              <a:spcAft>
                <a:spcPts val="150"/>
              </a:spcAft>
            </a:pPr>
            <a:r>
              <a:rPr sz="720" b="1" i="0">
                <a:solidFill>
                  <a:srgbClr val="1A1A1A"/>
                </a:solidFill>
                <a:latin typeface="Calibri"/>
              </a:rPr>
              <a:t>MAX30102 PPG: </a:t>
            </a:r>
            <a:r>
              <a:rPr sz="720" b="0" i="0">
                <a:solidFill>
                  <a:srgbClr val="1A1A1A"/>
                </a:solidFill>
                <a:latin typeface="Calibri"/>
              </a:rPr>
              <a:t>heart rate and SpO₂ from red + IR light.</a:t>
            </a:r>
          </a:p>
          <a:p>
            <a:pPr>
              <a:spcAft>
                <a:spcPts val="150"/>
              </a:spcAft>
            </a:pPr>
            <a:r>
              <a:rPr sz="720" b="1" i="0">
                <a:solidFill>
                  <a:srgbClr val="1A1A1A"/>
                </a:solidFill>
                <a:latin typeface="Calibri"/>
              </a:rPr>
              <a:t>MAX30205 skin temperature (±0.1 °C): </a:t>
            </a:r>
            <a:r>
              <a:rPr sz="720" b="0" i="0">
                <a:solidFill>
                  <a:srgbClr val="1A1A1A"/>
                </a:solidFill>
                <a:latin typeface="Calibri"/>
              </a:rPr>
              <a:t>armpit reading used as a core-temperature proxy for heat stress.</a:t>
            </a:r>
          </a:p>
          <a:p>
            <a:pPr>
              <a:spcAft>
                <a:spcPts val="150"/>
              </a:spcAft>
            </a:pPr>
            <a:r>
              <a:rPr sz="720" b="1" i="0">
                <a:solidFill>
                  <a:srgbClr val="1A1A1A"/>
                </a:solidFill>
                <a:latin typeface="Calibri"/>
              </a:rPr>
              <a:t>GSR / EDA sensor: </a:t>
            </a:r>
            <a:r>
              <a:rPr sz="720" b="0" i="0">
                <a:solidFill>
                  <a:srgbClr val="1A1A1A"/>
                </a:solidFill>
                <a:latin typeface="Calibri"/>
              </a:rPr>
              <a:t>sweat response for stress and hydration trend.</a:t>
            </a:r>
          </a:p>
          <a:p>
            <a:pPr>
              <a:spcAft>
                <a:spcPts val="150"/>
              </a:spcAft>
            </a:pPr>
            <a:r>
              <a:rPr sz="720" b="1" i="0">
                <a:solidFill>
                  <a:srgbClr val="1A1A1A"/>
                </a:solidFill>
                <a:latin typeface="Calibri"/>
              </a:rPr>
              <a:t>LSM6DSOX IMU (on-sensor ML core): </a:t>
            </a:r>
            <a:r>
              <a:rPr sz="720" b="0" i="0">
                <a:solidFill>
                  <a:srgbClr val="1A1A1A"/>
                </a:solidFill>
                <a:latin typeface="Calibri"/>
              </a:rPr>
              <a:t>activity, fall detection and chest-motion breathing.</a:t>
            </a:r>
          </a:p>
          <a:p>
            <a:pPr>
              <a:spcAft>
                <a:spcPts val="150"/>
              </a:spcAft>
            </a:pPr>
            <a:r>
              <a:rPr sz="720" b="1" i="0">
                <a:solidFill>
                  <a:srgbClr val="1A1A1A"/>
                </a:solidFill>
                <a:latin typeface="Calibri"/>
              </a:rPr>
              <a:t>SHT40 + SPS30: </a:t>
            </a:r>
            <a:r>
              <a:rPr sz="720" b="0" i="0">
                <a:solidFill>
                  <a:srgbClr val="1A1A1A"/>
                </a:solidFill>
                <a:latin typeface="Calibri"/>
              </a:rPr>
              <a:t>air temperature/humidity (heat index) and PM2.5.</a:t>
            </a:r>
          </a:p>
          <a:p>
            <a:pPr>
              <a:spcBef>
                <a:spcPts val="200"/>
              </a:spcBef>
              <a:spcAft>
                <a:spcPts val="100"/>
              </a:spcAft>
            </a:pPr>
            <a:r>
              <a:rPr sz="760" b="1" i="0">
                <a:solidFill>
                  <a:srgbClr val="1F6FB2"/>
                </a:solidFill>
                <a:latin typeface="Calibri"/>
              </a:rPr>
              <a:t>EDGE COMPUTE &amp; AI</a:t>
            </a:r>
          </a:p>
          <a:p>
            <a:pPr>
              <a:spcAft>
                <a:spcPts val="150"/>
              </a:spcAft>
            </a:pPr>
            <a:r>
              <a:rPr sz="720" b="1" i="0">
                <a:solidFill>
                  <a:srgbClr val="1A1A1A"/>
                </a:solidFill>
                <a:latin typeface="Calibri"/>
              </a:rPr>
              <a:t>ESP32-S3 N8R8: </a:t>
            </a:r>
            <a:r>
              <a:rPr sz="720" b="0" i="0">
                <a:solidFill>
                  <a:srgbClr val="1A1A1A"/>
                </a:solidFill>
                <a:latin typeface="Calibri"/>
              </a:rPr>
              <a:t>dual-core 240 MHz with 8 MB PSRAM for TinyML models.</a:t>
            </a:r>
          </a:p>
          <a:p>
            <a:pPr>
              <a:spcAft>
                <a:spcPts val="150"/>
              </a:spcAft>
            </a:pPr>
            <a:r>
              <a:rPr sz="720" b="1" i="0">
                <a:solidFill>
                  <a:srgbClr val="1A1A1A"/>
                </a:solidFill>
                <a:latin typeface="Calibri"/>
              </a:rPr>
              <a:t>TensorFlow Lite Micro + ESP-NN: </a:t>
            </a:r>
            <a:r>
              <a:rPr sz="720" b="0" i="0">
                <a:solidFill>
                  <a:srgbClr val="1A1A1A"/>
                </a:solidFill>
                <a:latin typeface="Calibri"/>
              </a:rPr>
              <a:t>int8 models run fully on the vest.</a:t>
            </a:r>
          </a:p>
          <a:p>
            <a:pPr>
              <a:spcAft>
                <a:spcPts val="150"/>
              </a:spcAft>
            </a:pPr>
            <a:r>
              <a:rPr sz="720" b="1" i="0">
                <a:solidFill>
                  <a:srgbClr val="1A1A1A"/>
                </a:solidFill>
                <a:latin typeface="Calibri"/>
              </a:rPr>
              <a:t>Rule engine: </a:t>
            </a:r>
            <a:r>
              <a:rPr sz="720" b="0" i="0">
                <a:solidFill>
                  <a:srgbClr val="1A1A1A"/>
                </a:solidFill>
                <a:latin typeface="Calibri"/>
              </a:rPr>
              <a:t>Physiological Strain Index + heat index give explainable heat alerts.</a:t>
            </a:r>
          </a:p>
          <a:p>
            <a:pPr>
              <a:spcBef>
                <a:spcPts val="200"/>
              </a:spcBef>
              <a:spcAft>
                <a:spcPts val="100"/>
              </a:spcAft>
            </a:pPr>
            <a:r>
              <a:rPr sz="760" b="1" i="0">
                <a:solidFill>
                  <a:srgbClr val="1F6FB2"/>
                </a:solidFill>
                <a:latin typeface="Calibri"/>
              </a:rPr>
              <a:t>CONNECTIVITY &amp; ALERTS</a:t>
            </a:r>
          </a:p>
          <a:p>
            <a:pPr>
              <a:spcAft>
                <a:spcPts val="150"/>
              </a:spcAft>
            </a:pPr>
            <a:r>
              <a:rPr sz="720" b="1" i="0">
                <a:solidFill>
                  <a:srgbClr val="1A1A1A"/>
                </a:solidFill>
                <a:latin typeface="Calibri"/>
              </a:rPr>
              <a:t>BLE 5: </a:t>
            </a:r>
            <a:r>
              <a:rPr sz="720" b="0" i="0">
                <a:solidFill>
                  <a:srgbClr val="1A1A1A"/>
                </a:solidFill>
                <a:latin typeface="Calibri"/>
              </a:rPr>
              <a:t>vest ↔ companion app with no internet.</a:t>
            </a:r>
          </a:p>
          <a:p>
            <a:pPr>
              <a:spcAft>
                <a:spcPts val="150"/>
              </a:spcAft>
            </a:pPr>
            <a:r>
              <a:rPr sz="720" b="1" i="0">
                <a:solidFill>
                  <a:srgbClr val="1A1A1A"/>
                </a:solidFill>
                <a:latin typeface="Calibri"/>
              </a:rPr>
              <a:t>L76K multi-GNSS (GPS, BeiDou, GLONASS): </a:t>
            </a:r>
            <a:r>
              <a:rPr sz="720" b="0" i="0">
                <a:solidFill>
                  <a:srgbClr val="1A1A1A"/>
                </a:solidFill>
                <a:latin typeface="Calibri"/>
              </a:rPr>
              <a:t>location shared only during SOS.</a:t>
            </a:r>
          </a:p>
          <a:p>
            <a:pPr>
              <a:spcAft>
                <a:spcPts val="150"/>
              </a:spcAft>
            </a:pPr>
            <a:r>
              <a:rPr sz="720" b="1" i="0">
                <a:solidFill>
                  <a:srgbClr val="1A1A1A"/>
                </a:solidFill>
                <a:latin typeface="Calibri"/>
              </a:rPr>
              <a:t>A7670 LTE Cat-1 (optional): </a:t>
            </a:r>
            <a:r>
              <a:rPr sz="720" b="0" i="0">
                <a:solidFill>
                  <a:srgbClr val="1A1A1A"/>
                </a:solidFill>
                <a:latin typeface="Calibri"/>
              </a:rPr>
              <a:t>SMS SOS even without the phone.</a:t>
            </a:r>
          </a:p>
          <a:p>
            <a:pPr>
              <a:spcAft>
                <a:spcPts val="150"/>
              </a:spcAft>
            </a:pPr>
            <a:r>
              <a:rPr sz="720" b="1" i="0">
                <a:solidFill>
                  <a:srgbClr val="1A1A1A"/>
                </a:solidFill>
                <a:latin typeface="Calibri"/>
              </a:rPr>
              <a:t>DRV8833 + vibration motors, SSD1306 OLED, buzzer: </a:t>
            </a:r>
            <a:r>
              <a:rPr sz="720" b="0" i="0">
                <a:solidFill>
                  <a:srgbClr val="1A1A1A"/>
                </a:solidFill>
                <a:latin typeface="Calibri"/>
              </a:rPr>
              <a:t>silent and visible alerts.</a:t>
            </a:r>
          </a:p>
          <a:p>
            <a:pPr>
              <a:spcBef>
                <a:spcPts val="200"/>
              </a:spcBef>
              <a:spcAft>
                <a:spcPts val="100"/>
              </a:spcAft>
            </a:pPr>
            <a:r>
              <a:rPr sz="760" b="1" i="0">
                <a:solidFill>
                  <a:srgbClr val="1F6FB2"/>
                </a:solidFill>
                <a:latin typeface="Calibri"/>
              </a:rPr>
              <a:t>POWER &amp; DATA</a:t>
            </a:r>
          </a:p>
          <a:p>
            <a:pPr>
              <a:spcAft>
                <a:spcPts val="150"/>
              </a:spcAft>
            </a:pPr>
            <a:r>
              <a:rPr sz="720" b="1" i="0">
                <a:solidFill>
                  <a:srgbClr val="1A1A1A"/>
                </a:solidFill>
                <a:latin typeface="Calibri"/>
              </a:rPr>
              <a:t>Li-Po 2500 mAh + BQ24074 + TPS63802: </a:t>
            </a:r>
            <a:r>
              <a:rPr sz="720" b="0" i="0">
                <a:solidFill>
                  <a:srgbClr val="1A1A1A"/>
                </a:solidFill>
                <a:latin typeface="Calibri"/>
              </a:rPr>
              <a:t>~26–45 h estimated runtime; ECG off while charging.</a:t>
            </a:r>
          </a:p>
          <a:p>
            <a:pPr>
              <a:spcAft>
                <a:spcPts val="150"/>
              </a:spcAft>
            </a:pPr>
            <a:r>
              <a:rPr sz="720" b="1" i="0">
                <a:solidFill>
                  <a:srgbClr val="1A1A1A"/>
                </a:solidFill>
                <a:latin typeface="Calibri"/>
              </a:rPr>
              <a:t>microSD (AES-encrypted): </a:t>
            </a:r>
            <a:r>
              <a:rPr sz="720" b="0" i="0">
                <a:solidFill>
                  <a:srgbClr val="1A1A1A"/>
                </a:solidFill>
                <a:latin typeface="Calibri"/>
              </a:rPr>
              <a:t>offline history for the personal baseline.</a:t>
            </a:r>
          </a:p>
          <a:p>
            <a:pPr>
              <a:spcBef>
                <a:spcPts val="200"/>
              </a:spcBef>
              <a:spcAft>
                <a:spcPts val="100"/>
              </a:spcAft>
            </a:pPr>
            <a:r>
              <a:rPr sz="760" b="1" i="0">
                <a:solidFill>
                  <a:srgbClr val="1F6FB2"/>
                </a:solidFill>
                <a:latin typeface="Calibri"/>
              </a:rPr>
              <a:t>APP &amp; EXTERNAL DATA</a:t>
            </a:r>
          </a:p>
          <a:p>
            <a:pPr>
              <a:spcAft>
                <a:spcPts val="150"/>
              </a:spcAft>
            </a:pPr>
            <a:r>
              <a:rPr sz="720" b="1" i="0">
                <a:solidFill>
                  <a:srgbClr val="1A1A1A"/>
                </a:solidFill>
                <a:latin typeface="Calibri"/>
              </a:rPr>
              <a:t>Android companion app: </a:t>
            </a:r>
            <a:r>
              <a:rPr sz="720" b="0" i="0">
                <a:solidFill>
                  <a:srgbClr val="1A1A1A"/>
                </a:solidFill>
                <a:latin typeface="Calibri"/>
              </a:rPr>
              <a:t>dashboard, trends, SOS contacts, regional languages.</a:t>
            </a:r>
          </a:p>
          <a:p>
            <a:pPr>
              <a:spcAft>
                <a:spcPts val="150"/>
              </a:spcAft>
            </a:pPr>
            <a:r>
              <a:rPr sz="720" b="1" i="0">
                <a:solidFill>
                  <a:srgbClr val="1A1A1A"/>
                </a:solidFill>
                <a:latin typeface="Calibri"/>
              </a:rPr>
              <a:t>IMD heat-wave warnings + CPCB AQI: </a:t>
            </a:r>
            <a:r>
              <a:rPr sz="720" b="0" i="0">
                <a:solidFill>
                  <a:srgbClr val="1A1A1A"/>
                </a:solidFill>
                <a:latin typeface="Calibri"/>
              </a:rPr>
              <a:t>cached when online, used offline.</a:t>
            </a:r>
          </a:p>
        </p:txBody>
      </p:sp>
      <p:cxnSp>
        <p:nvCxnSpPr>
          <p:cNvPr id="9" name="Connector 8"/>
          <p:cNvCxnSpPr/>
          <p:nvPr/>
        </p:nvCxnSpPr>
        <p:spPr>
          <a:xfrm>
            <a:off x="3403600" y="1066800"/>
            <a:ext cx="0" cy="5613400"/>
          </a:xfrm>
          <a:prstGeom prst="line">
            <a:avLst/>
          </a:prstGeom>
          <a:ln w="12700">
            <a:solidFill>
              <a:srgbClr val="B05450"/>
            </a:solidFill>
            <a:prstDash val="dash"/>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505200" y="1054100"/>
            <a:ext cx="6070600" cy="228600"/>
          </a:xfrm>
          <a:prstGeom prst="rect">
            <a:avLst/>
          </a:prstGeom>
          <a:noFill/>
        </p:spPr>
        <p:txBody>
          <a:bodyPr wrap="square" lIns="25400" rIns="25400" tIns="12700" bIns="12700" anchor="t">
            <a:spAutoFit/>
          </a:bodyPr>
          <a:lstStyle/>
          <a:p>
            <a:pPr algn="ctr"/>
            <a:r>
              <a:rPr sz="1100" b="1" i="0" u="sng">
                <a:solidFill>
                  <a:srgbClr val="1F6FB2"/>
                </a:solidFill>
                <a:latin typeface="Calibri"/>
              </a:rPr>
              <a:t>CIRCUIT DIAGRAM</a:t>
            </a:r>
          </a:p>
        </p:txBody>
      </p:sp>
      <p:pic>
        <p:nvPicPr>
          <p:cNvPr id="11" name="Picture 10" descr="circuit.png"/>
          <p:cNvPicPr>
            <a:picLocks noChangeAspect="1"/>
          </p:cNvPicPr>
          <p:nvPr/>
        </p:nvPicPr>
        <p:blipFill>
          <a:blip r:embed="rId3"/>
          <a:stretch>
            <a:fillRect/>
          </a:stretch>
        </p:blipFill>
        <p:spPr>
          <a:xfrm>
            <a:off x="3556000" y="1282700"/>
            <a:ext cx="5969000" cy="3552976"/>
          </a:xfrm>
          <a:prstGeom prst="rect">
            <a:avLst/>
          </a:prstGeom>
        </p:spPr>
      </p:pic>
      <p:cxnSp>
        <p:nvCxnSpPr>
          <p:cNvPr id="12" name="Connector 11"/>
          <p:cNvCxnSpPr/>
          <p:nvPr/>
        </p:nvCxnSpPr>
        <p:spPr>
          <a:xfrm>
            <a:off x="9626600" y="1066800"/>
            <a:ext cx="0" cy="3784600"/>
          </a:xfrm>
          <a:prstGeom prst="line">
            <a:avLst/>
          </a:prstGeom>
          <a:ln w="12700">
            <a:solidFill>
              <a:srgbClr val="B05450"/>
            </a:solidFill>
            <a:prstDash val="dash"/>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702800" y="1054100"/>
            <a:ext cx="2222500" cy="228600"/>
          </a:xfrm>
          <a:prstGeom prst="rect">
            <a:avLst/>
          </a:prstGeom>
          <a:noFill/>
        </p:spPr>
        <p:txBody>
          <a:bodyPr wrap="square" lIns="25400" rIns="25400" tIns="12700" bIns="12700" anchor="t">
            <a:spAutoFit/>
          </a:bodyPr>
          <a:lstStyle/>
          <a:p>
            <a:r>
              <a:rPr sz="1050" b="1" i="0" u="sng">
                <a:solidFill>
                  <a:srgbClr val="1F6FB2"/>
                </a:solidFill>
                <a:latin typeface="Calibri"/>
              </a:rPr>
              <a:t>On-device ML Models</a:t>
            </a:r>
          </a:p>
        </p:txBody>
      </p:sp>
      <p:sp>
        <p:nvSpPr>
          <p:cNvPr id="14" name="TextBox 13"/>
          <p:cNvSpPr txBox="1"/>
          <p:nvPr/>
        </p:nvSpPr>
        <p:spPr>
          <a:xfrm>
            <a:off x="9702800" y="1282700"/>
            <a:ext cx="2184400" cy="3619500"/>
          </a:xfrm>
          <a:prstGeom prst="rect">
            <a:avLst/>
          </a:prstGeom>
          <a:noFill/>
        </p:spPr>
        <p:txBody>
          <a:bodyPr wrap="square" lIns="25400" rIns="25400" tIns="12700" bIns="12700" anchor="t">
            <a:spAutoFit/>
          </a:bodyPr>
          <a:lstStyle/>
          <a:p>
            <a:pPr>
              <a:spcAft>
                <a:spcPts val="300"/>
              </a:spcAft>
            </a:pPr>
            <a:r>
              <a:rPr sz="790" b="1" i="0">
                <a:solidFill>
                  <a:srgbClr val="1A1A1A"/>
                </a:solidFill>
                <a:latin typeface="Calibri"/>
              </a:rPr>
              <a:t>•  </a:t>
            </a:r>
            <a:r>
              <a:rPr sz="790" b="1" i="0">
                <a:solidFill>
                  <a:srgbClr val="1A1A1A"/>
                </a:solidFill>
                <a:latin typeface="Calibri"/>
              </a:rPr>
              <a:t>Heat stress: </a:t>
            </a:r>
            <a:r>
              <a:rPr sz="790" b="0" i="0">
                <a:solidFill>
                  <a:srgbClr val="1A1A1A"/>
                </a:solidFill>
                <a:latin typeface="Calibri"/>
              </a:rPr>
              <a:t>PSI + heat-index rules, then a small MLP grading risk into 5 levels.</a:t>
            </a:r>
          </a:p>
          <a:p>
            <a:pPr>
              <a:spcAft>
                <a:spcPts val="300"/>
              </a:spcAft>
            </a:pPr>
            <a:r>
              <a:rPr sz="790" b="1" i="0">
                <a:solidFill>
                  <a:srgbClr val="1A1A1A"/>
                </a:solidFill>
                <a:latin typeface="Calibri"/>
              </a:rPr>
              <a:t>•  </a:t>
            </a:r>
            <a:r>
              <a:rPr sz="790" b="1" i="0">
                <a:solidFill>
                  <a:srgbClr val="1A1A1A"/>
                </a:solidFill>
                <a:latin typeface="Calibri"/>
              </a:rPr>
              <a:t>Dehydration: </a:t>
            </a:r>
            <a:r>
              <a:rPr sz="790" b="0" i="0">
                <a:solidFill>
                  <a:srgbClr val="1A1A1A"/>
                </a:solidFill>
                <a:latin typeface="Calibri"/>
              </a:rPr>
              <a:t>HR drift at the same activity + GSR + skin-temperature trend (logistic model).</a:t>
            </a:r>
          </a:p>
          <a:p>
            <a:pPr>
              <a:spcAft>
                <a:spcPts val="300"/>
              </a:spcAft>
            </a:pPr>
            <a:r>
              <a:rPr sz="790" b="1" i="0">
                <a:solidFill>
                  <a:srgbClr val="1A1A1A"/>
                </a:solidFill>
                <a:latin typeface="Calibri"/>
              </a:rPr>
              <a:t>•  </a:t>
            </a:r>
            <a:r>
              <a:rPr sz="790" b="1" i="0">
                <a:solidFill>
                  <a:srgbClr val="1A1A1A"/>
                </a:solidFill>
                <a:latin typeface="Calibri"/>
              </a:rPr>
              <a:t>Arrhythmia / AF: </a:t>
            </a:r>
            <a:r>
              <a:rPr sz="790" b="0" i="0">
                <a:solidFill>
                  <a:srgbClr val="1A1A1A"/>
                </a:solidFill>
                <a:latin typeface="Calibri"/>
              </a:rPr>
              <a:t>1D-CNN on single-lead ECG (~50 KB int8).</a:t>
            </a:r>
          </a:p>
          <a:p>
            <a:pPr>
              <a:spcAft>
                <a:spcPts val="300"/>
              </a:spcAft>
            </a:pPr>
            <a:r>
              <a:rPr sz="790" b="1" i="0">
                <a:solidFill>
                  <a:srgbClr val="1A1A1A"/>
                </a:solidFill>
                <a:latin typeface="Calibri"/>
              </a:rPr>
              <a:t>•  </a:t>
            </a:r>
            <a:r>
              <a:rPr sz="790" b="1" i="0">
                <a:solidFill>
                  <a:srgbClr val="1A1A1A"/>
                </a:solidFill>
                <a:latin typeface="Calibri"/>
              </a:rPr>
              <a:t>Stress: </a:t>
            </a:r>
            <a:r>
              <a:rPr sz="790" b="0" i="0">
                <a:solidFill>
                  <a:srgbClr val="1A1A1A"/>
                </a:solidFill>
                <a:latin typeface="Calibri"/>
              </a:rPr>
              <a:t>1D-CNN on GSR + PPG + IMU windows (our existing stress model).</a:t>
            </a:r>
          </a:p>
          <a:p>
            <a:pPr>
              <a:spcAft>
                <a:spcPts val="300"/>
              </a:spcAft>
            </a:pPr>
            <a:r>
              <a:rPr sz="790" b="1" i="0">
                <a:solidFill>
                  <a:srgbClr val="1A1A1A"/>
                </a:solidFill>
                <a:latin typeface="Calibri"/>
              </a:rPr>
              <a:t>•  </a:t>
            </a:r>
            <a:r>
              <a:rPr sz="790" b="1" i="0">
                <a:solidFill>
                  <a:srgbClr val="1A1A1A"/>
                </a:solidFill>
                <a:latin typeface="Calibri"/>
              </a:rPr>
              <a:t>Falls: </a:t>
            </a:r>
            <a:r>
              <a:rPr sz="790" b="0" i="0">
                <a:solidFill>
                  <a:srgbClr val="1A1A1A"/>
                </a:solidFill>
                <a:latin typeface="Calibri"/>
              </a:rPr>
              <a:t>decision tree on the IMU’s ML core, confirmed on the MCU.</a:t>
            </a:r>
          </a:p>
          <a:p>
            <a:pPr>
              <a:spcAft>
                <a:spcPts val="300"/>
              </a:spcAft>
            </a:pPr>
            <a:r>
              <a:rPr sz="790" b="1" i="0">
                <a:solidFill>
                  <a:srgbClr val="1A1A1A"/>
                </a:solidFill>
                <a:latin typeface="Calibri"/>
              </a:rPr>
              <a:t>•  </a:t>
            </a:r>
            <a:r>
              <a:rPr sz="790" b="1" i="0">
                <a:solidFill>
                  <a:srgbClr val="1A1A1A"/>
                </a:solidFill>
                <a:latin typeface="Calibri"/>
              </a:rPr>
              <a:t>Respiratory: </a:t>
            </a:r>
            <a:r>
              <a:rPr sz="790" b="0" i="0">
                <a:solidFill>
                  <a:srgbClr val="1A1A1A"/>
                </a:solidFill>
                <a:latin typeface="Calibri"/>
              </a:rPr>
              <a:t>breathing rate (ECG + chest IMU) + SpO₂ + PM2.5 rules.</a:t>
            </a:r>
          </a:p>
          <a:p>
            <a:pPr>
              <a:spcAft>
                <a:spcPts val="300"/>
              </a:spcAft>
            </a:pPr>
            <a:r>
              <a:rPr sz="790" b="1" i="0">
                <a:solidFill>
                  <a:srgbClr val="1A1A1A"/>
                </a:solidFill>
                <a:latin typeface="Calibri"/>
              </a:rPr>
              <a:t>•  </a:t>
            </a:r>
            <a:r>
              <a:rPr sz="790" b="1" i="0">
                <a:solidFill>
                  <a:srgbClr val="1A1A1A"/>
                </a:solidFill>
                <a:latin typeface="Calibri"/>
              </a:rPr>
              <a:t>Personal baseline: </a:t>
            </a:r>
            <a:r>
              <a:rPr sz="790" b="0" i="0">
                <a:solidFill>
                  <a:srgbClr val="1A1A1A"/>
                </a:solidFill>
                <a:latin typeface="Calibri"/>
              </a:rPr>
              <a:t>autoencoder trained on the wearer’s first 7 days flags deviations.</a:t>
            </a:r>
          </a:p>
          <a:p>
            <a:pPr>
              <a:spcAft>
                <a:spcPts val="300"/>
              </a:spcAft>
            </a:pPr>
            <a:r>
              <a:rPr sz="790" b="1" i="0">
                <a:solidFill>
                  <a:srgbClr val="1A1A1A"/>
                </a:solidFill>
                <a:latin typeface="Calibri"/>
              </a:rPr>
              <a:t>•  </a:t>
            </a:r>
            <a:r>
              <a:rPr sz="790" b="1" i="0">
                <a:solidFill>
                  <a:srgbClr val="1A1A1A"/>
                </a:solidFill>
                <a:latin typeface="Calibri"/>
              </a:rPr>
              <a:t>Explainable output: </a:t>
            </a:r>
            <a:r>
              <a:rPr sz="790" b="0" i="0">
                <a:solidFill>
                  <a:srgbClr val="1A1A1A"/>
                </a:solidFill>
                <a:latin typeface="Calibri"/>
              </a:rPr>
              <a:t>every alert states its reason, e.g. “skin 38.4 °C + HR 132 → rest and drink water”.</a:t>
            </a:r>
          </a:p>
        </p:txBody>
      </p:sp>
      <p:cxnSp>
        <p:nvCxnSpPr>
          <p:cNvPr id="15" name="Connector 14"/>
          <p:cNvCxnSpPr/>
          <p:nvPr/>
        </p:nvCxnSpPr>
        <p:spPr>
          <a:xfrm>
            <a:off x="3505200" y="4876800"/>
            <a:ext cx="8369300" cy="0"/>
          </a:xfrm>
          <a:prstGeom prst="line">
            <a:avLst/>
          </a:prstGeom>
          <a:ln w="12700">
            <a:solidFill>
              <a:srgbClr val="B05450"/>
            </a:solidFill>
            <a:prstDash val="dash"/>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556000" y="4927600"/>
            <a:ext cx="5080000" cy="228600"/>
          </a:xfrm>
          <a:prstGeom prst="rect">
            <a:avLst/>
          </a:prstGeom>
          <a:noFill/>
        </p:spPr>
        <p:txBody>
          <a:bodyPr wrap="square" lIns="25400" rIns="25400" tIns="12700" bIns="12700" anchor="t">
            <a:spAutoFit/>
          </a:bodyPr>
          <a:lstStyle/>
          <a:p>
            <a:r>
              <a:rPr sz="1050" b="1" i="0" u="sng">
                <a:solidFill>
                  <a:srgbClr val="1F6FB2"/>
                </a:solidFill>
                <a:latin typeface="Calibri"/>
              </a:rPr>
              <a:t>Open Datasets for Training &amp; Validation</a:t>
            </a:r>
          </a:p>
        </p:txBody>
      </p:sp>
      <p:graphicFrame>
        <p:nvGraphicFramePr>
          <p:cNvPr id="17" name="Table 16"/>
          <p:cNvGraphicFramePr>
            <a:graphicFrameLocks noGrp="1"/>
          </p:cNvGraphicFramePr>
          <p:nvPr/>
        </p:nvGraphicFramePr>
        <p:xfrm>
          <a:off x="3556000" y="5156200"/>
          <a:ext cx="8280400" cy="1066800"/>
        </p:xfrm>
        <a:graphic>
          <a:graphicData uri="http://schemas.openxmlformats.org/drawingml/2006/table">
            <a:tbl>
              <a:tblPr firstRow="1" bandRow="1">
                <a:tableStyleId>{5C22544A-7EE6-4342-B048-85BDC9FD1C3A}</a:tableStyleId>
              </a:tblPr>
              <a:tblGrid>
                <a:gridCol w="2159000"/>
                <a:gridCol w="4470400"/>
                <a:gridCol w="1651000"/>
              </a:tblGrid>
              <a:tr h="152400">
                <a:tc>
                  <a:txBody>
                    <a:bodyPr/>
                    <a:lstStyle/>
                    <a:p>
                      <a:r>
                        <a:rPr sz="680" b="1" i="0">
                          <a:solidFill>
                            <a:srgbClr val="FFFFFF"/>
                          </a:solidFill>
                          <a:latin typeface="Calibri"/>
                        </a:rPr>
                        <a:t>Dataset</a:t>
                      </a:r>
                    </a:p>
                  </a:txBody>
                  <a:tcPr marL="38100" marR="38100" marT="6350" marB="6350">
                    <a:solidFill>
                      <a:srgbClr val="1F6FB2"/>
                    </a:solidFill>
                  </a:tcPr>
                </a:tc>
                <a:tc>
                  <a:txBody>
                    <a:bodyPr/>
                    <a:lstStyle/>
                    <a:p>
                      <a:r>
                        <a:rPr sz="680" b="1" i="0">
                          <a:solidFill>
                            <a:srgbClr val="FFFFFF"/>
                          </a:solidFill>
                          <a:latin typeface="Calibri"/>
                        </a:rPr>
                        <a:t>What it contains</a:t>
                      </a:r>
                    </a:p>
                  </a:txBody>
                  <a:tcPr marL="38100" marR="38100" marT="6350" marB="6350">
                    <a:solidFill>
                      <a:srgbClr val="1F6FB2"/>
                    </a:solidFill>
                  </a:tcPr>
                </a:tc>
                <a:tc>
                  <a:txBody>
                    <a:bodyPr/>
                    <a:lstStyle/>
                    <a:p>
                      <a:r>
                        <a:rPr sz="680" b="1" i="0">
                          <a:solidFill>
                            <a:srgbClr val="FFFFFF"/>
                          </a:solidFill>
                          <a:latin typeface="Calibri"/>
                        </a:rPr>
                        <a:t>Used for</a:t>
                      </a:r>
                    </a:p>
                  </a:txBody>
                  <a:tcPr marL="38100" marR="38100" marT="6350" marB="6350">
                    <a:solidFill>
                      <a:srgbClr val="1F6FB2"/>
                    </a:solidFill>
                  </a:tcPr>
                </a:tc>
              </a:tr>
              <a:tr h="152400">
                <a:tc>
                  <a:txBody>
                    <a:bodyPr/>
                    <a:lstStyle/>
                    <a:p>
                      <a:r>
                        <a:rPr sz="660" b="1" i="0">
                          <a:solidFill>
                            <a:srgbClr val="1F6FB2"/>
                          </a:solidFill>
                          <a:latin typeface="Calibri"/>
                          <a:hlinkClick r:id="rId4"/>
                        </a:rPr>
                        <a:t>WESAD (UCI / Kaggle)</a:t>
                      </a:r>
                    </a:p>
                  </a:txBody>
                  <a:tcPr marL="38100" marR="38100" marT="6350" marB="6350">
                    <a:solidFill>
                      <a:srgbClr val="EEF3F9"/>
                    </a:solidFill>
                  </a:tcPr>
                </a:tc>
                <a:tc>
                  <a:txBody>
                    <a:bodyPr/>
                    <a:lstStyle/>
                    <a:p>
                      <a:r>
                        <a:rPr sz="660" b="0" i="0">
                          <a:solidFill>
                            <a:srgbClr val="1A1A1A"/>
                          </a:solidFill>
                          <a:latin typeface="Calibri"/>
                        </a:rPr>
                        <a:t>15 subjects; chest ECG, EDA, temperature, respiration, ACC at 700 Hz</a:t>
                      </a:r>
                    </a:p>
                  </a:txBody>
                  <a:tcPr marL="38100" marR="38100" marT="6350" marB="6350">
                    <a:solidFill>
                      <a:srgbClr val="EEF3F9"/>
                    </a:solidFill>
                  </a:tcPr>
                </a:tc>
                <a:tc>
                  <a:txBody>
                    <a:bodyPr/>
                    <a:lstStyle/>
                    <a:p>
                      <a:r>
                        <a:rPr sz="660" b="0" i="0">
                          <a:solidFill>
                            <a:srgbClr val="1A1A1A"/>
                          </a:solidFill>
                          <a:latin typeface="Calibri"/>
                        </a:rPr>
                        <a:t>Stress model, sensor fusion</a:t>
                      </a:r>
                    </a:p>
                  </a:txBody>
                  <a:tcPr marL="38100" marR="38100" marT="6350" marB="6350">
                    <a:solidFill>
                      <a:srgbClr val="EEF3F9"/>
                    </a:solidFill>
                  </a:tcPr>
                </a:tc>
              </a:tr>
              <a:tr h="152400">
                <a:tc>
                  <a:txBody>
                    <a:bodyPr/>
                    <a:lstStyle/>
                    <a:p>
                      <a:r>
                        <a:rPr sz="660" b="1" i="0">
                          <a:solidFill>
                            <a:srgbClr val="1F6FB2"/>
                          </a:solidFill>
                          <a:latin typeface="Calibri"/>
                          <a:hlinkClick r:id="rId5"/>
                        </a:rPr>
                        <a:t>PhysioNet/CinC Challenge 2017</a:t>
                      </a:r>
                    </a:p>
                  </a:txBody>
                  <a:tcPr marL="38100" marR="38100" marT="6350" marB="6350">
                    <a:solidFill>
                      <a:srgbClr val="FFFFFF"/>
                    </a:solidFill>
                  </a:tcPr>
                </a:tc>
                <a:tc>
                  <a:txBody>
                    <a:bodyPr/>
                    <a:lstStyle/>
                    <a:p>
                      <a:r>
                        <a:rPr sz="660" b="0" i="0">
                          <a:solidFill>
                            <a:srgbClr val="1A1A1A"/>
                          </a:solidFill>
                          <a:latin typeface="Calibri"/>
                        </a:rPr>
                        <a:t>8,528 single-lead ECGs (9–61 s, 300 Hz); normal, AF, other, noisy</a:t>
                      </a:r>
                    </a:p>
                  </a:txBody>
                  <a:tcPr marL="38100" marR="38100" marT="6350" marB="6350">
                    <a:solidFill>
                      <a:srgbClr val="FFFFFF"/>
                    </a:solidFill>
                  </a:tcPr>
                </a:tc>
                <a:tc>
                  <a:txBody>
                    <a:bodyPr/>
                    <a:lstStyle/>
                    <a:p>
                      <a:r>
                        <a:rPr sz="660" b="0" i="0">
                          <a:solidFill>
                            <a:srgbClr val="1A1A1A"/>
                          </a:solidFill>
                          <a:latin typeface="Calibri"/>
                        </a:rPr>
                        <a:t>AF / arrhythmia 1D-CNN</a:t>
                      </a:r>
                    </a:p>
                  </a:txBody>
                  <a:tcPr marL="38100" marR="38100" marT="6350" marB="6350">
                    <a:solidFill>
                      <a:srgbClr val="FFFFFF"/>
                    </a:solidFill>
                  </a:tcPr>
                </a:tc>
              </a:tr>
              <a:tr h="152400">
                <a:tc>
                  <a:txBody>
                    <a:bodyPr/>
                    <a:lstStyle/>
                    <a:p>
                      <a:r>
                        <a:rPr sz="660" b="1" i="0">
                          <a:solidFill>
                            <a:srgbClr val="1F6FB2"/>
                          </a:solidFill>
                          <a:latin typeface="Calibri"/>
                          <a:hlinkClick r:id="rId6"/>
                        </a:rPr>
                        <a:t>BIDMC PPG &amp; Respiration (PhysioNet)</a:t>
                      </a:r>
                    </a:p>
                  </a:txBody>
                  <a:tcPr marL="38100" marR="38100" marT="6350" marB="6350">
                    <a:solidFill>
                      <a:srgbClr val="EEF3F9"/>
                    </a:solidFill>
                  </a:tcPr>
                </a:tc>
                <a:tc>
                  <a:txBody>
                    <a:bodyPr/>
                    <a:lstStyle/>
                    <a:p>
                      <a:r>
                        <a:rPr sz="660" b="0" i="0">
                          <a:solidFill>
                            <a:srgbClr val="1A1A1A"/>
                          </a:solidFill>
                          <a:latin typeface="Calibri"/>
                        </a:rPr>
                        <a:t>53 × 8-min PPG, ECG, respiration with HR, RR, SpO₂</a:t>
                      </a:r>
                    </a:p>
                  </a:txBody>
                  <a:tcPr marL="38100" marR="38100" marT="6350" marB="6350">
                    <a:solidFill>
                      <a:srgbClr val="EEF3F9"/>
                    </a:solidFill>
                  </a:tcPr>
                </a:tc>
                <a:tc>
                  <a:txBody>
                    <a:bodyPr/>
                    <a:lstStyle/>
                    <a:p>
                      <a:r>
                        <a:rPr sz="660" b="0" i="0">
                          <a:solidFill>
                            <a:srgbClr val="1A1A1A"/>
                          </a:solidFill>
                          <a:latin typeface="Calibri"/>
                        </a:rPr>
                        <a:t>Breathing rate, SpO₂ checks</a:t>
                      </a:r>
                    </a:p>
                  </a:txBody>
                  <a:tcPr marL="38100" marR="38100" marT="6350" marB="6350">
                    <a:solidFill>
                      <a:srgbClr val="EEF3F9"/>
                    </a:solidFill>
                  </a:tcPr>
                </a:tc>
              </a:tr>
              <a:tr h="152400">
                <a:tc>
                  <a:txBody>
                    <a:bodyPr/>
                    <a:lstStyle/>
                    <a:p>
                      <a:r>
                        <a:rPr sz="660" b="1" i="0">
                          <a:solidFill>
                            <a:srgbClr val="1F6FB2"/>
                          </a:solidFill>
                          <a:latin typeface="Calibri"/>
                          <a:hlinkClick r:id="rId7"/>
                        </a:rPr>
                        <a:t>SisFall</a:t>
                      </a:r>
                    </a:p>
                  </a:txBody>
                  <a:tcPr marL="38100" marR="38100" marT="6350" marB="6350">
                    <a:solidFill>
                      <a:srgbClr val="FFFFFF"/>
                    </a:solidFill>
                  </a:tcPr>
                </a:tc>
                <a:tc>
                  <a:txBody>
                    <a:bodyPr/>
                    <a:lstStyle/>
                    <a:p>
                      <a:r>
                        <a:rPr sz="660" b="0" i="0">
                          <a:solidFill>
                            <a:srgbClr val="1A1A1A"/>
                          </a:solidFill>
                          <a:latin typeface="Calibri"/>
                        </a:rPr>
                        <a:t>38 people (15 aged 60–75); 4,504 trials; 15 fall and 19 daily-activity types</a:t>
                      </a:r>
                    </a:p>
                  </a:txBody>
                  <a:tcPr marL="38100" marR="38100" marT="6350" marB="6350">
                    <a:solidFill>
                      <a:srgbClr val="FFFFFF"/>
                    </a:solidFill>
                  </a:tcPr>
                </a:tc>
                <a:tc>
                  <a:txBody>
                    <a:bodyPr/>
                    <a:lstStyle/>
                    <a:p>
                      <a:r>
                        <a:rPr sz="660" b="0" i="0">
                          <a:solidFill>
                            <a:srgbClr val="1A1A1A"/>
                          </a:solidFill>
                          <a:latin typeface="Calibri"/>
                        </a:rPr>
                        <a:t>Fall detection</a:t>
                      </a:r>
                    </a:p>
                  </a:txBody>
                  <a:tcPr marL="38100" marR="38100" marT="6350" marB="6350">
                    <a:solidFill>
                      <a:srgbClr val="FFFFFF"/>
                    </a:solidFill>
                  </a:tcPr>
                </a:tc>
              </a:tr>
              <a:tr h="152400">
                <a:tc>
                  <a:txBody>
                    <a:bodyPr/>
                    <a:lstStyle/>
                    <a:p>
                      <a:r>
                        <a:rPr sz="660" b="1" i="0">
                          <a:solidFill>
                            <a:srgbClr val="1F6FB2"/>
                          </a:solidFill>
                          <a:latin typeface="Calibri"/>
                          <a:hlinkClick r:id="rId8"/>
                        </a:rPr>
                        <a:t>Wearable Stress &amp; Exercise (PhysioNet / Kaggle)</a:t>
                      </a:r>
                    </a:p>
                  </a:txBody>
                  <a:tcPr marL="38100" marR="38100" marT="6350" marB="6350">
                    <a:solidFill>
                      <a:srgbClr val="EEF3F9"/>
                    </a:solidFill>
                  </a:tcPr>
                </a:tc>
                <a:tc>
                  <a:txBody>
                    <a:bodyPr/>
                    <a:lstStyle/>
                    <a:p>
                      <a:r>
                        <a:rPr sz="660" b="0" i="0">
                          <a:solidFill>
                            <a:srgbClr val="1A1A1A"/>
                          </a:solidFill>
                          <a:latin typeface="Calibri"/>
                        </a:rPr>
                        <a:t>36 people; EDA, skin temp, BVP, ACC during stress and exercise</a:t>
                      </a:r>
                    </a:p>
                  </a:txBody>
                  <a:tcPr marL="38100" marR="38100" marT="6350" marB="6350">
                    <a:solidFill>
                      <a:srgbClr val="EEF3F9"/>
                    </a:solidFill>
                  </a:tcPr>
                </a:tc>
                <a:tc>
                  <a:txBody>
                    <a:bodyPr/>
                    <a:lstStyle/>
                    <a:p>
                      <a:r>
                        <a:rPr sz="660" b="0" i="0">
                          <a:solidFill>
                            <a:srgbClr val="1A1A1A"/>
                          </a:solidFill>
                          <a:latin typeface="Calibri"/>
                        </a:rPr>
                        <a:t>Exertion / heat-strain, dehydration</a:t>
                      </a:r>
                    </a:p>
                  </a:txBody>
                  <a:tcPr marL="38100" marR="38100" marT="6350" marB="6350">
                    <a:solidFill>
                      <a:srgbClr val="EEF3F9"/>
                    </a:solidFill>
                  </a:tcPr>
                </a:tc>
              </a:tr>
              <a:tr h="152400">
                <a:tc>
                  <a:txBody>
                    <a:bodyPr/>
                    <a:lstStyle/>
                    <a:p>
                      <a:r>
                        <a:rPr sz="660" b="1" i="0">
                          <a:solidFill>
                            <a:srgbClr val="1F6FB2"/>
                          </a:solidFill>
                          <a:latin typeface="Calibri"/>
                          <a:hlinkClick r:id="rId9"/>
                        </a:rPr>
                        <a:t>Air Quality Data in India (Kaggle, CPCB)</a:t>
                      </a:r>
                    </a:p>
                  </a:txBody>
                  <a:tcPr marL="38100" marR="38100" marT="6350" marB="6350">
                    <a:solidFill>
                      <a:srgbClr val="FFFFFF"/>
                    </a:solidFill>
                  </a:tcPr>
                </a:tc>
                <a:tc>
                  <a:txBody>
                    <a:bodyPr/>
                    <a:lstStyle/>
                    <a:p>
                      <a:r>
                        <a:rPr sz="660" b="0" i="0">
                          <a:solidFill>
                            <a:srgbClr val="1A1A1A"/>
                          </a:solidFill>
                          <a:latin typeface="Calibri"/>
                        </a:rPr>
                        <a:t>Daily and hourly AQI, PM2.5, PM10 for Indian cities, 2015–2020</a:t>
                      </a:r>
                    </a:p>
                  </a:txBody>
                  <a:tcPr marL="38100" marR="38100" marT="6350" marB="6350">
                    <a:solidFill>
                      <a:srgbClr val="FFFFFF"/>
                    </a:solidFill>
                  </a:tcPr>
                </a:tc>
                <a:tc>
                  <a:txBody>
                    <a:bodyPr/>
                    <a:lstStyle/>
                    <a:p>
                      <a:r>
                        <a:rPr sz="660" b="0" i="0">
                          <a:solidFill>
                            <a:srgbClr val="1A1A1A"/>
                          </a:solidFill>
                          <a:latin typeface="Calibri"/>
                        </a:rPr>
                        <a:t>PM2.5 risk thresholds</a:t>
                      </a:r>
                    </a:p>
                  </a:txBody>
                  <a:tcPr marL="38100" marR="38100" marT="6350" marB="6350">
                    <a:solidFill>
                      <a:srgbClr val="FFFFFF"/>
                    </a:solidFill>
                  </a:tcPr>
                </a:tc>
              </a:tr>
            </a:tbl>
          </a:graphicData>
        </a:graphic>
      </p:graphicFrame>
      <p:sp>
        <p:nvSpPr>
          <p:cNvPr id="18" name="Rounded Rectangle 17"/>
          <p:cNvSpPr/>
          <p:nvPr/>
        </p:nvSpPr>
        <p:spPr>
          <a:xfrm>
            <a:off x="3556000" y="6299200"/>
            <a:ext cx="8280400" cy="304800"/>
          </a:xfrm>
          <a:prstGeom prst="roundRect">
            <a:avLst/>
          </a:prstGeom>
          <a:solidFill>
            <a:srgbClr val="DAE3F3"/>
          </a:solidFill>
          <a:ln w="952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lIns="127000"/>
          <a:lstStyle/>
          <a:p>
            <a:pPr algn="l"/>
            <a:r>
              <a:rPr sz="950" b="1" i="0">
                <a:solidFill>
                  <a:srgbClr val="1A1A1A"/>
                </a:solidFill>
                <a:latin typeface="Calibri"/>
              </a:rPr>
              <a:t>GitHub Repository:  </a:t>
            </a:r>
            <a:r>
              <a:rPr sz="950" b="0" i="0" u="sng">
                <a:solidFill>
                  <a:srgbClr val="1F6FB2"/>
                </a:solidFill>
                <a:latin typeface="Calibri"/>
                <a:hlinkClick r:id="rId10"/>
              </a:rPr>
              <a:t>https://github.com/thotapremkumar-tpk/ArogyaAegis-SIH.git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317500" y="241300"/>
            <a:ext cx="1422400" cy="482600"/>
          </a:xfrm>
          <a:prstGeom prst="ellipse">
            <a:avLst/>
          </a:prstGeom>
          <a:noFill/>
          <a:ln w="2222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50" b="1" i="1">
                <a:solidFill>
                  <a:srgbClr val="1F3864"/>
                </a:solidFill>
                <a:latin typeface="Cambria"/>
              </a:rPr>
              <a:t>ArogyaAegis</a:t>
            </a:r>
          </a:p>
        </p:txBody>
      </p:sp>
      <p:sp>
        <p:nvSpPr>
          <p:cNvPr id="3" name="TextBox 2"/>
          <p:cNvSpPr txBox="1"/>
          <p:nvPr/>
        </p:nvSpPr>
        <p:spPr>
          <a:xfrm>
            <a:off x="1905000" y="152400"/>
            <a:ext cx="8255000" cy="736600"/>
          </a:xfrm>
          <a:prstGeom prst="rect">
            <a:avLst/>
          </a:prstGeom>
          <a:noFill/>
        </p:spPr>
        <p:txBody>
          <a:bodyPr wrap="square" lIns="25400" rIns="25400" tIns="12700" bIns="12700" anchor="ctr">
            <a:spAutoFit/>
          </a:bodyPr>
          <a:lstStyle/>
          <a:p>
            <a:pPr algn="ctr"/>
            <a:r>
              <a:rPr sz="2600" b="1" i="0">
                <a:solidFill>
                  <a:srgbClr val="1F3864"/>
                </a:solidFill>
                <a:latin typeface="Cambria"/>
              </a:rPr>
              <a:t>FEASIBILITY AND VIABILITY</a:t>
            </a:r>
          </a:p>
        </p:txBody>
      </p:sp>
      <p:pic>
        <p:nvPicPr>
          <p:cNvPr id="4" name="Picture 3" descr="sih_logo.png"/>
          <p:cNvPicPr>
            <a:picLocks noChangeAspect="1"/>
          </p:cNvPicPr>
          <p:nvPr/>
        </p:nvPicPr>
        <p:blipFill>
          <a:blip r:embed="rId2"/>
          <a:stretch>
            <a:fillRect/>
          </a:stretch>
        </p:blipFill>
        <p:spPr>
          <a:xfrm>
            <a:off x="10312400" y="101600"/>
            <a:ext cx="1574800" cy="743739"/>
          </a:xfrm>
          <a:prstGeom prst="rect">
            <a:avLst/>
          </a:prstGeom>
        </p:spPr>
      </p:pic>
      <p:cxnSp>
        <p:nvCxnSpPr>
          <p:cNvPr id="5" name="Connector 4"/>
          <p:cNvCxnSpPr/>
          <p:nvPr/>
        </p:nvCxnSpPr>
        <p:spPr>
          <a:xfrm>
            <a:off x="317500" y="965200"/>
            <a:ext cx="11557000" cy="0"/>
          </a:xfrm>
          <a:prstGeom prst="line">
            <a:avLst/>
          </a:prstGeom>
          <a:ln w="19050">
            <a:solidFill>
              <a:srgbClr val="1F6FB2"/>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430000" y="6540500"/>
            <a:ext cx="508000" cy="203200"/>
          </a:xfrm>
          <a:prstGeom prst="rect">
            <a:avLst/>
          </a:prstGeom>
          <a:noFill/>
        </p:spPr>
        <p:txBody>
          <a:bodyPr wrap="square" lIns="25400" rIns="25400" tIns="12700" bIns="12700" anchor="t">
            <a:spAutoFit/>
          </a:bodyPr>
          <a:lstStyle/>
          <a:p>
            <a:pPr algn="r"/>
            <a:r>
              <a:rPr sz="900" b="0" i="0">
                <a:solidFill>
                  <a:srgbClr val="595959"/>
                </a:solidFill>
                <a:latin typeface="Calibri"/>
              </a:rPr>
              <a:t>4</a:t>
            </a:r>
          </a:p>
        </p:txBody>
      </p:sp>
      <p:sp>
        <p:nvSpPr>
          <p:cNvPr id="7" name="TextBox 6"/>
          <p:cNvSpPr txBox="1"/>
          <p:nvPr/>
        </p:nvSpPr>
        <p:spPr>
          <a:xfrm>
            <a:off x="381000" y="1066800"/>
            <a:ext cx="3810000" cy="228600"/>
          </a:xfrm>
          <a:prstGeom prst="rect">
            <a:avLst/>
          </a:prstGeom>
          <a:noFill/>
        </p:spPr>
        <p:txBody>
          <a:bodyPr wrap="square" lIns="25400" rIns="25400" tIns="12700" bIns="12700" anchor="t">
            <a:spAutoFit/>
          </a:bodyPr>
          <a:lstStyle/>
          <a:p>
            <a:r>
              <a:rPr sz="1250" b="1" i="0" u="sng">
                <a:solidFill>
                  <a:srgbClr val="1F6FB2"/>
                </a:solidFill>
                <a:latin typeface="Calibri"/>
              </a:rPr>
              <a:t>Feasibility</a:t>
            </a:r>
          </a:p>
        </p:txBody>
      </p:sp>
      <p:sp>
        <p:nvSpPr>
          <p:cNvPr id="8" name="TextBox 7"/>
          <p:cNvSpPr txBox="1"/>
          <p:nvPr/>
        </p:nvSpPr>
        <p:spPr>
          <a:xfrm>
            <a:off x="381000" y="1320800"/>
            <a:ext cx="5588000" cy="2540000"/>
          </a:xfrm>
          <a:prstGeom prst="rect">
            <a:avLst/>
          </a:prstGeom>
          <a:noFill/>
        </p:spPr>
        <p:txBody>
          <a:bodyPr wrap="square" lIns="25400" rIns="25400" tIns="12700" bIns="12700" anchor="t">
            <a:spAutoFit/>
          </a:bodyPr>
          <a:lstStyle/>
          <a:p>
            <a:pPr>
              <a:spcAft>
                <a:spcPts val="350"/>
              </a:spcAft>
            </a:pPr>
            <a:r>
              <a:rPr sz="1100" b="1" i="0">
                <a:solidFill>
                  <a:srgbClr val="1A1A1A"/>
                </a:solidFill>
                <a:latin typeface="Calibri"/>
              </a:rPr>
              <a:t>•  </a:t>
            </a:r>
            <a:r>
              <a:rPr sz="1100" b="1" i="0">
                <a:solidFill>
                  <a:srgbClr val="1A1A1A"/>
                </a:solidFill>
                <a:latin typeface="Calibri"/>
              </a:rPr>
              <a:t>Builds on a working v1 prototype</a:t>
            </a:r>
            <a:r>
              <a:rPr sz="1100" b="0" i="0">
                <a:solidFill>
                  <a:srgbClr val="1A1A1A"/>
                </a:solidFill>
                <a:latin typeface="Calibri"/>
              </a:rPr>
              <a:t> (ESP32-S3 + AD8232 ECG + OLED + DRV8833 haptics); v2 adds off-the-shelf I²C/UART modules — no custom chips.</a:t>
            </a:r>
          </a:p>
          <a:p>
            <a:pPr>
              <a:spcAft>
                <a:spcPts val="350"/>
              </a:spcAft>
            </a:pPr>
            <a:r>
              <a:rPr sz="1100" b="1" i="0">
                <a:solidFill>
                  <a:srgbClr val="1A1A1A"/>
                </a:solidFill>
                <a:latin typeface="Calibri"/>
              </a:rPr>
              <a:t>•  </a:t>
            </a:r>
            <a:r>
              <a:rPr sz="1100" b="1" i="0">
                <a:solidFill>
                  <a:srgbClr val="1A1A1A"/>
                </a:solidFill>
                <a:latin typeface="Calibri"/>
              </a:rPr>
              <a:t>Edge AI is proven on wearables:</a:t>
            </a:r>
            <a:r>
              <a:rPr sz="1100" b="0" i="0">
                <a:solidFill>
                  <a:srgbClr val="1A1A1A"/>
                </a:solidFill>
                <a:latin typeface="Calibri"/>
              </a:rPr>
              <a:t> 94.8% anomaly-detection accuracy with ECG + PPG + accelerometer + temperature (Kim, 2026) and 47 ms on-device stress inference with 8-bit models (Jaber, 2026).</a:t>
            </a:r>
          </a:p>
          <a:p>
            <a:pPr>
              <a:spcAft>
                <a:spcPts val="350"/>
              </a:spcAft>
            </a:pPr>
            <a:r>
              <a:rPr sz="1100" b="1" i="0">
                <a:solidFill>
                  <a:srgbClr val="1A1A1A"/>
                </a:solidFill>
                <a:latin typeface="Calibri"/>
              </a:rPr>
              <a:t>•  </a:t>
            </a:r>
            <a:r>
              <a:rPr sz="1100" b="1" i="0">
                <a:solidFill>
                  <a:srgbClr val="1A1A1A"/>
                </a:solidFill>
                <a:latin typeface="Calibri"/>
              </a:rPr>
              <a:t>Fits the hardware:</a:t>
            </a:r>
            <a:r>
              <a:rPr sz="1100" b="0" i="0">
                <a:solidFill>
                  <a:srgbClr val="1A1A1A"/>
                </a:solidFill>
                <a:latin typeface="Calibri"/>
              </a:rPr>
              <a:t> int8 models of ~50 KB each fit in the ESP32-S3’s 8 MB PSRAM; average draw ≈ 80 mA gives ~26 h, or ~45 h with light sleep (estimated).</a:t>
            </a:r>
          </a:p>
          <a:p>
            <a:pPr>
              <a:spcAft>
                <a:spcPts val="350"/>
              </a:spcAft>
            </a:pPr>
            <a:r>
              <a:rPr sz="1100" b="1" i="0">
                <a:solidFill>
                  <a:srgbClr val="1A1A1A"/>
                </a:solidFill>
                <a:latin typeface="Calibri"/>
              </a:rPr>
              <a:t>•  </a:t>
            </a:r>
            <a:r>
              <a:rPr sz="1100" b="1" i="0">
                <a:solidFill>
                  <a:srgbClr val="1A1A1A"/>
                </a:solidFill>
                <a:latin typeface="Calibri"/>
              </a:rPr>
              <a:t>All training data is open</a:t>
            </a:r>
            <a:r>
              <a:rPr sz="1100" b="0" i="0">
                <a:solidFill>
                  <a:srgbClr val="1A1A1A"/>
                </a:solidFill>
                <a:latin typeface="Calibri"/>
              </a:rPr>
              <a:t> — WESAD, PhysioNet CinC 2017, BIDMC, SisFall, CPCB air quality.</a:t>
            </a:r>
          </a:p>
        </p:txBody>
      </p:sp>
      <p:cxnSp>
        <p:nvCxnSpPr>
          <p:cNvPr id="9" name="Connector 8"/>
          <p:cNvCxnSpPr/>
          <p:nvPr/>
        </p:nvCxnSpPr>
        <p:spPr>
          <a:xfrm>
            <a:off x="6096000" y="1066800"/>
            <a:ext cx="0" cy="5613400"/>
          </a:xfrm>
          <a:prstGeom prst="line">
            <a:avLst/>
          </a:prstGeom>
          <a:ln w="12700">
            <a:solidFill>
              <a:srgbClr val="B05450"/>
            </a:solidFill>
            <a:prstDash val="dash"/>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248400" y="1066800"/>
            <a:ext cx="3810000" cy="228600"/>
          </a:xfrm>
          <a:prstGeom prst="rect">
            <a:avLst/>
          </a:prstGeom>
          <a:noFill/>
        </p:spPr>
        <p:txBody>
          <a:bodyPr wrap="square" lIns="25400" rIns="25400" tIns="12700" bIns="12700" anchor="t">
            <a:spAutoFit/>
          </a:bodyPr>
          <a:lstStyle/>
          <a:p>
            <a:r>
              <a:rPr sz="1250" b="1" i="0" u="sng">
                <a:solidFill>
                  <a:srgbClr val="1F6FB2"/>
                </a:solidFill>
                <a:latin typeface="Calibri"/>
              </a:rPr>
              <a:t>Commercial Feasibility</a:t>
            </a:r>
          </a:p>
        </p:txBody>
      </p:sp>
      <p:sp>
        <p:nvSpPr>
          <p:cNvPr id="11" name="TextBox 10"/>
          <p:cNvSpPr txBox="1"/>
          <p:nvPr/>
        </p:nvSpPr>
        <p:spPr>
          <a:xfrm>
            <a:off x="6248400" y="1320800"/>
            <a:ext cx="5588000" cy="2540000"/>
          </a:xfrm>
          <a:prstGeom prst="rect">
            <a:avLst/>
          </a:prstGeom>
          <a:noFill/>
        </p:spPr>
        <p:txBody>
          <a:bodyPr wrap="square" lIns="25400" rIns="25400" tIns="12700" bIns="12700" anchor="t">
            <a:spAutoFit/>
          </a:bodyPr>
          <a:lstStyle/>
          <a:p>
            <a:pPr>
              <a:spcAft>
                <a:spcPts val="350"/>
              </a:spcAft>
            </a:pPr>
            <a:r>
              <a:rPr sz="1100" b="1" i="0">
                <a:solidFill>
                  <a:srgbClr val="1A1A1A"/>
                </a:solidFill>
                <a:latin typeface="Calibri"/>
              </a:rPr>
              <a:t>•  </a:t>
            </a:r>
            <a:r>
              <a:rPr sz="1100" b="1" i="0">
                <a:solidFill>
                  <a:srgbClr val="1A1A1A"/>
                </a:solidFill>
                <a:latin typeface="Calibri"/>
              </a:rPr>
              <a:t>Commodity parts, no licence fees</a:t>
            </a:r>
            <a:r>
              <a:rPr sz="1100" b="0" i="0">
                <a:solidFill>
                  <a:srgbClr val="1A1A1A"/>
                </a:solidFill>
                <a:latin typeface="Calibri"/>
              </a:rPr>
              <a:t> — every module is available from Indian electronics distributors.</a:t>
            </a:r>
          </a:p>
          <a:p>
            <a:pPr>
              <a:spcAft>
                <a:spcPts val="350"/>
              </a:spcAft>
            </a:pPr>
            <a:r>
              <a:rPr sz="1100" b="1" i="0">
                <a:solidFill>
                  <a:srgbClr val="1A1A1A"/>
                </a:solidFill>
                <a:latin typeface="Calibri"/>
              </a:rPr>
              <a:t>•  </a:t>
            </a:r>
            <a:r>
              <a:rPr sz="1100" b="1" i="0">
                <a:solidFill>
                  <a:srgbClr val="1A1A1A"/>
                </a:solidFill>
                <a:latin typeface="Calibri"/>
              </a:rPr>
              <a:t>Plugs into existing public-health rails</a:t>
            </a:r>
            <a:r>
              <a:rPr sz="1100" b="0" i="0">
                <a:solidFill>
                  <a:srgbClr val="1A1A1A"/>
                </a:solidFill>
                <a:latin typeface="Calibri"/>
              </a:rPr>
              <a:t> — IMD heat-wave warnings, CPCB AQI, the NPCCHH heat-health programme and ASHA referral — not a parallel system.</a:t>
            </a:r>
          </a:p>
          <a:p>
            <a:pPr>
              <a:spcAft>
                <a:spcPts val="350"/>
              </a:spcAft>
            </a:pPr>
            <a:r>
              <a:rPr sz="1100" b="1" i="0">
                <a:solidFill>
                  <a:srgbClr val="1A1A1A"/>
                </a:solidFill>
                <a:latin typeface="Calibri"/>
              </a:rPr>
              <a:t>•  </a:t>
            </a:r>
            <a:r>
              <a:rPr sz="1100" b="1" i="0">
                <a:solidFill>
                  <a:srgbClr val="1A1A1A"/>
                </a:solidFill>
                <a:latin typeface="Calibri"/>
              </a:rPr>
              <a:t>Three buyers:</a:t>
            </a:r>
            <a:r>
              <a:rPr sz="1100" b="0" i="0">
                <a:solidFill>
                  <a:srgbClr val="1A1A1A"/>
                </a:solidFill>
                <a:latin typeface="Calibri"/>
              </a:rPr>
              <a:t> families of elderly users; employers of outdoor workers (construction, delivery, farms); state health departments and disaster agencies (NDMA/SDMA) for high-risk groups.</a:t>
            </a:r>
          </a:p>
          <a:p>
            <a:pPr>
              <a:spcAft>
                <a:spcPts val="350"/>
              </a:spcAft>
            </a:pPr>
            <a:r>
              <a:rPr sz="1100" b="1" i="0">
                <a:solidFill>
                  <a:srgbClr val="1A1A1A"/>
                </a:solidFill>
                <a:latin typeface="Calibri"/>
              </a:rPr>
              <a:t>•  </a:t>
            </a:r>
            <a:r>
              <a:rPr sz="1100" b="1" i="0">
                <a:solidFill>
                  <a:srgbClr val="1A1A1A"/>
                </a:solidFill>
                <a:latin typeface="Calibri"/>
              </a:rPr>
              <a:t>Scales beyond the vest:</a:t>
            </a:r>
            <a:r>
              <a:rPr sz="1100" b="0" i="0">
                <a:solidFill>
                  <a:srgbClr val="1A1A1A"/>
                </a:solidFill>
                <a:latin typeface="Calibri"/>
              </a:rPr>
              <a:t> the same models run in the phone app on smartwatch and fitness-band data.</a:t>
            </a:r>
          </a:p>
        </p:txBody>
      </p:sp>
      <p:cxnSp>
        <p:nvCxnSpPr>
          <p:cNvPr id="12" name="Connector 11"/>
          <p:cNvCxnSpPr/>
          <p:nvPr/>
        </p:nvCxnSpPr>
        <p:spPr>
          <a:xfrm>
            <a:off x="317500" y="3835400"/>
            <a:ext cx="11557000" cy="0"/>
          </a:xfrm>
          <a:prstGeom prst="line">
            <a:avLst/>
          </a:prstGeom>
          <a:ln w="12700">
            <a:solidFill>
              <a:srgbClr val="B05450"/>
            </a:solidFill>
            <a:prstDash val="dash"/>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81000" y="3937000"/>
            <a:ext cx="3810000" cy="228600"/>
          </a:xfrm>
          <a:prstGeom prst="rect">
            <a:avLst/>
          </a:prstGeom>
          <a:noFill/>
        </p:spPr>
        <p:txBody>
          <a:bodyPr wrap="square" lIns="25400" rIns="25400" tIns="12700" bIns="12700" anchor="t">
            <a:spAutoFit/>
          </a:bodyPr>
          <a:lstStyle/>
          <a:p>
            <a:r>
              <a:rPr sz="1250" b="1" i="0" u="sng">
                <a:solidFill>
                  <a:srgbClr val="1F6FB2"/>
                </a:solidFill>
                <a:latin typeface="Calibri"/>
              </a:rPr>
              <a:t>Challenges</a:t>
            </a:r>
          </a:p>
        </p:txBody>
      </p:sp>
      <p:sp>
        <p:nvSpPr>
          <p:cNvPr id="14" name="TextBox 13"/>
          <p:cNvSpPr txBox="1"/>
          <p:nvPr/>
        </p:nvSpPr>
        <p:spPr>
          <a:xfrm>
            <a:off x="381000" y="4191000"/>
            <a:ext cx="5588000" cy="2476500"/>
          </a:xfrm>
          <a:prstGeom prst="rect">
            <a:avLst/>
          </a:prstGeom>
          <a:noFill/>
        </p:spPr>
        <p:txBody>
          <a:bodyPr wrap="square" lIns="25400" rIns="25400" tIns="12700" bIns="12700" anchor="t">
            <a:spAutoFit/>
          </a:bodyPr>
          <a:lstStyle/>
          <a:p>
            <a:pPr>
              <a:spcAft>
                <a:spcPts val="350"/>
              </a:spcAft>
            </a:pPr>
            <a:r>
              <a:rPr sz="1100" b="1" i="0">
                <a:solidFill>
                  <a:srgbClr val="1A1A1A"/>
                </a:solidFill>
                <a:latin typeface="Calibri"/>
              </a:rPr>
              <a:t>•  </a:t>
            </a:r>
            <a:r>
              <a:rPr sz="1100" b="1" i="0">
                <a:solidFill>
                  <a:srgbClr val="1A1A1A"/>
                </a:solidFill>
                <a:latin typeface="Calibri"/>
              </a:rPr>
              <a:t>No open dataset of real heatstroke events</a:t>
            </a:r>
            <a:r>
              <a:rPr sz="1100" b="0" i="0">
                <a:solidFill>
                  <a:srgbClr val="1A1A1A"/>
                </a:solidFill>
                <a:latin typeface="Calibri"/>
              </a:rPr>
              <a:t> — heat models start from physiology rules (PSI) and exercise data; PSI alone can miss at-risk people (Eur J Appl Physiol, 2021), so field validation is essential.</a:t>
            </a:r>
          </a:p>
          <a:p>
            <a:pPr>
              <a:spcAft>
                <a:spcPts val="350"/>
              </a:spcAft>
            </a:pPr>
            <a:r>
              <a:rPr sz="1100" b="1" i="0">
                <a:solidFill>
                  <a:srgbClr val="1A1A1A"/>
                </a:solidFill>
                <a:latin typeface="Calibri"/>
              </a:rPr>
              <a:t>•  </a:t>
            </a:r>
            <a:r>
              <a:rPr sz="1100" b="1" i="0">
                <a:solidFill>
                  <a:srgbClr val="1A1A1A"/>
                </a:solidFill>
                <a:latin typeface="Calibri"/>
              </a:rPr>
              <a:t>Motion and sweat</a:t>
            </a:r>
            <a:r>
              <a:rPr sz="1100" b="0" i="0">
                <a:solidFill>
                  <a:srgbClr val="1A1A1A"/>
                </a:solidFill>
                <a:latin typeface="Calibri"/>
              </a:rPr>
              <a:t> degrade ECG, PPG and GSR signals during outdoor work.</a:t>
            </a:r>
          </a:p>
          <a:p>
            <a:pPr>
              <a:spcAft>
                <a:spcPts val="350"/>
              </a:spcAft>
            </a:pPr>
            <a:r>
              <a:rPr sz="1100" b="1" i="0">
                <a:solidFill>
                  <a:srgbClr val="1A1A1A"/>
                </a:solidFill>
                <a:latin typeface="Calibri"/>
              </a:rPr>
              <a:t>•  </a:t>
            </a:r>
            <a:r>
              <a:rPr sz="1100" b="1" i="0">
                <a:solidFill>
                  <a:srgbClr val="1A1A1A"/>
                </a:solidFill>
                <a:latin typeface="Calibri"/>
              </a:rPr>
              <a:t>Comfort and battery</a:t>
            </a:r>
            <a:r>
              <a:rPr sz="1100" b="0" i="0">
                <a:solidFill>
                  <a:srgbClr val="1A1A1A"/>
                </a:solidFill>
                <a:latin typeface="Calibri"/>
              </a:rPr>
              <a:t> of a chest-worn vest in 45 °C heat.</a:t>
            </a:r>
          </a:p>
          <a:p>
            <a:pPr>
              <a:spcAft>
                <a:spcPts val="350"/>
              </a:spcAft>
            </a:pPr>
            <a:r>
              <a:rPr sz="1100" b="1" i="0">
                <a:solidFill>
                  <a:srgbClr val="1A1A1A"/>
                </a:solidFill>
                <a:latin typeface="Calibri"/>
              </a:rPr>
              <a:t>•  </a:t>
            </a:r>
            <a:r>
              <a:rPr sz="1100" b="1" i="0">
                <a:solidFill>
                  <a:srgbClr val="1A1A1A"/>
                </a:solidFill>
                <a:latin typeface="Calibri"/>
              </a:rPr>
              <a:t>False alarms</a:t>
            </a:r>
            <a:r>
              <a:rPr sz="1100" b="0" i="0">
                <a:solidFill>
                  <a:srgbClr val="1A1A1A"/>
                </a:solidFill>
                <a:latin typeface="Calibri"/>
              </a:rPr>
              <a:t> erode trust and daily use (Oloko-Oba, 2026).</a:t>
            </a:r>
          </a:p>
          <a:p>
            <a:pPr>
              <a:spcAft>
                <a:spcPts val="350"/>
              </a:spcAft>
            </a:pPr>
            <a:r>
              <a:rPr sz="1100" b="1" i="0">
                <a:solidFill>
                  <a:srgbClr val="1A1A1A"/>
                </a:solidFill>
                <a:latin typeface="Calibri"/>
              </a:rPr>
              <a:t>•  </a:t>
            </a:r>
            <a:r>
              <a:rPr sz="1100" b="1" i="0">
                <a:solidFill>
                  <a:srgbClr val="1A1A1A"/>
                </a:solidFill>
                <a:latin typeface="Calibri"/>
              </a:rPr>
              <a:t>Sensitive health data</a:t>
            </a:r>
            <a:r>
              <a:rPr sz="1100" b="0" i="0">
                <a:solidFill>
                  <a:srgbClr val="1A1A1A"/>
                </a:solidFill>
                <a:latin typeface="Calibri"/>
              </a:rPr>
              <a:t> needs consent and compliance with the DPDP Act 2023.</a:t>
            </a:r>
          </a:p>
        </p:txBody>
      </p:sp>
      <p:sp>
        <p:nvSpPr>
          <p:cNvPr id="15" name="TextBox 14"/>
          <p:cNvSpPr txBox="1"/>
          <p:nvPr/>
        </p:nvSpPr>
        <p:spPr>
          <a:xfrm>
            <a:off x="6248400" y="3937000"/>
            <a:ext cx="3810000" cy="228600"/>
          </a:xfrm>
          <a:prstGeom prst="rect">
            <a:avLst/>
          </a:prstGeom>
          <a:noFill/>
        </p:spPr>
        <p:txBody>
          <a:bodyPr wrap="square" lIns="25400" rIns="25400" tIns="12700" bIns="12700" anchor="t">
            <a:spAutoFit/>
          </a:bodyPr>
          <a:lstStyle/>
          <a:p>
            <a:r>
              <a:rPr sz="1250" b="1" i="0" u="sng">
                <a:solidFill>
                  <a:srgbClr val="1F6FB2"/>
                </a:solidFill>
                <a:latin typeface="Calibri"/>
              </a:rPr>
              <a:t>Strategy</a:t>
            </a:r>
          </a:p>
        </p:txBody>
      </p:sp>
      <p:sp>
        <p:nvSpPr>
          <p:cNvPr id="16" name="TextBox 15"/>
          <p:cNvSpPr txBox="1"/>
          <p:nvPr/>
        </p:nvSpPr>
        <p:spPr>
          <a:xfrm>
            <a:off x="6248400" y="4191000"/>
            <a:ext cx="5588000" cy="2476500"/>
          </a:xfrm>
          <a:prstGeom prst="rect">
            <a:avLst/>
          </a:prstGeom>
          <a:noFill/>
        </p:spPr>
        <p:txBody>
          <a:bodyPr wrap="square" lIns="25400" rIns="25400" tIns="12700" bIns="12700" anchor="t">
            <a:spAutoFit/>
          </a:bodyPr>
          <a:lstStyle/>
          <a:p>
            <a:pPr>
              <a:spcAft>
                <a:spcPts val="350"/>
              </a:spcAft>
            </a:pPr>
            <a:r>
              <a:rPr sz="1100" b="1" i="0">
                <a:solidFill>
                  <a:srgbClr val="1A1A1A"/>
                </a:solidFill>
                <a:latin typeface="Calibri"/>
              </a:rPr>
              <a:t>•  </a:t>
            </a:r>
            <a:r>
              <a:rPr sz="1100" b="1" i="0">
                <a:solidFill>
                  <a:srgbClr val="1A1A1A"/>
                </a:solidFill>
                <a:latin typeface="Calibri"/>
              </a:rPr>
              <a:t>Pilot with 30–50 outdoor workers and elderly users</a:t>
            </a:r>
            <a:r>
              <a:rPr sz="1100" b="0" i="0">
                <a:solidFill>
                  <a:srgbClr val="1A1A1A"/>
                </a:solidFill>
                <a:latin typeface="Calibri"/>
              </a:rPr>
              <a:t> in a heat-prone district to collect labelled field data; later improve models by federated learning without collecting raw data (Shokri, 2024).</a:t>
            </a:r>
          </a:p>
          <a:p>
            <a:pPr>
              <a:spcAft>
                <a:spcPts val="350"/>
              </a:spcAft>
            </a:pPr>
            <a:r>
              <a:rPr sz="1100" b="1" i="0">
                <a:solidFill>
                  <a:srgbClr val="1A1A1A"/>
                </a:solidFill>
                <a:latin typeface="Calibri"/>
              </a:rPr>
              <a:t>•  </a:t>
            </a:r>
            <a:r>
              <a:rPr sz="1100" b="1" i="0">
                <a:solidFill>
                  <a:srgbClr val="1A1A1A"/>
                </a:solidFill>
                <a:latin typeface="Calibri"/>
              </a:rPr>
              <a:t>Signal-quality checks + multi-sensor agreement</a:t>
            </a:r>
            <a:r>
              <a:rPr sz="1100" b="0" i="0">
                <a:solidFill>
                  <a:srgbClr val="1A1A1A"/>
                </a:solidFill>
                <a:latin typeface="Calibri"/>
              </a:rPr>
              <a:t>: alert only when 2+ signals agree; the ACK button cancels false alarms.</a:t>
            </a:r>
          </a:p>
          <a:p>
            <a:pPr>
              <a:spcAft>
                <a:spcPts val="350"/>
              </a:spcAft>
            </a:pPr>
            <a:r>
              <a:rPr sz="1100" b="1" i="0">
                <a:solidFill>
                  <a:srgbClr val="1A1A1A"/>
                </a:solidFill>
                <a:latin typeface="Calibri"/>
              </a:rPr>
              <a:t>•  </a:t>
            </a:r>
            <a:r>
              <a:rPr sz="1100" b="1" i="0">
                <a:solidFill>
                  <a:srgbClr val="1A1A1A"/>
                </a:solidFill>
                <a:latin typeface="Calibri"/>
              </a:rPr>
              <a:t>Breathable mesh vest</a:t>
            </a:r>
            <a:r>
              <a:rPr sz="1100" b="0" i="0">
                <a:solidFill>
                  <a:srgbClr val="1A1A1A"/>
                </a:solidFill>
                <a:latin typeface="Calibri"/>
              </a:rPr>
              <a:t>, duty-cycled sensors and light sleep; power-bank or solar top-up.</a:t>
            </a:r>
          </a:p>
          <a:p>
            <a:pPr>
              <a:spcAft>
                <a:spcPts val="350"/>
              </a:spcAft>
            </a:pPr>
            <a:r>
              <a:rPr sz="1100" b="1" i="0">
                <a:solidFill>
                  <a:srgbClr val="1A1A1A"/>
                </a:solidFill>
                <a:latin typeface="Calibri"/>
              </a:rPr>
              <a:t>•  </a:t>
            </a:r>
            <a:r>
              <a:rPr sz="1100" b="1" i="0">
                <a:solidFill>
                  <a:srgbClr val="1A1A1A"/>
                </a:solidFill>
                <a:latin typeface="Calibri"/>
              </a:rPr>
              <a:t>Explainable alerts</a:t>
            </a:r>
            <a:r>
              <a:rPr sz="1100" b="0" i="0">
                <a:solidFill>
                  <a:srgbClr val="1A1A1A"/>
                </a:solidFill>
                <a:latin typeface="Calibri"/>
              </a:rPr>
              <a:t> (“skin 38.4 °C + HR 132 → rest”) build trust.</a:t>
            </a:r>
          </a:p>
          <a:p>
            <a:pPr>
              <a:spcAft>
                <a:spcPts val="350"/>
              </a:spcAft>
            </a:pPr>
            <a:r>
              <a:rPr sz="1100" b="1" i="0">
                <a:solidFill>
                  <a:srgbClr val="1A1A1A"/>
                </a:solidFill>
                <a:latin typeface="Calibri"/>
              </a:rPr>
              <a:t>•  </a:t>
            </a:r>
            <a:r>
              <a:rPr sz="1100" b="1" i="0">
                <a:solidFill>
                  <a:srgbClr val="1A1A1A"/>
                </a:solidFill>
                <a:latin typeface="Calibri"/>
              </a:rPr>
              <a:t>Privacy by design</a:t>
            </a:r>
            <a:r>
              <a:rPr sz="1100" b="0" i="0">
                <a:solidFill>
                  <a:srgbClr val="1A1A1A"/>
                </a:solidFill>
                <a:latin typeface="Calibri"/>
              </a:rPr>
              <a:t>: on-device processing, encrypted logs, location only at SOS, clear consent screens.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317500" y="241300"/>
            <a:ext cx="1422400" cy="482600"/>
          </a:xfrm>
          <a:prstGeom prst="ellipse">
            <a:avLst/>
          </a:prstGeom>
          <a:noFill/>
          <a:ln w="2222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50" b="1" i="1">
                <a:solidFill>
                  <a:srgbClr val="1F3864"/>
                </a:solidFill>
                <a:latin typeface="Cambria"/>
              </a:rPr>
              <a:t>ArogyaAegis</a:t>
            </a:r>
          </a:p>
        </p:txBody>
      </p:sp>
      <p:sp>
        <p:nvSpPr>
          <p:cNvPr id="3" name="TextBox 2"/>
          <p:cNvSpPr txBox="1"/>
          <p:nvPr/>
        </p:nvSpPr>
        <p:spPr>
          <a:xfrm>
            <a:off x="1905000" y="152400"/>
            <a:ext cx="8255000" cy="736600"/>
          </a:xfrm>
          <a:prstGeom prst="rect">
            <a:avLst/>
          </a:prstGeom>
          <a:noFill/>
        </p:spPr>
        <p:txBody>
          <a:bodyPr wrap="square" lIns="25400" rIns="25400" tIns="12700" bIns="12700" anchor="ctr">
            <a:spAutoFit/>
          </a:bodyPr>
          <a:lstStyle/>
          <a:p>
            <a:pPr algn="ctr"/>
            <a:r>
              <a:rPr sz="2600" b="1" i="0">
                <a:solidFill>
                  <a:srgbClr val="1F3864"/>
                </a:solidFill>
                <a:latin typeface="Cambria"/>
              </a:rPr>
              <a:t>IMPACT AND BENEFITS</a:t>
            </a:r>
          </a:p>
        </p:txBody>
      </p:sp>
      <p:pic>
        <p:nvPicPr>
          <p:cNvPr id="4" name="Picture 3" descr="sih_logo.png"/>
          <p:cNvPicPr>
            <a:picLocks noChangeAspect="1"/>
          </p:cNvPicPr>
          <p:nvPr/>
        </p:nvPicPr>
        <p:blipFill>
          <a:blip r:embed="rId2"/>
          <a:stretch>
            <a:fillRect/>
          </a:stretch>
        </p:blipFill>
        <p:spPr>
          <a:xfrm>
            <a:off x="10312400" y="101600"/>
            <a:ext cx="1574800" cy="743739"/>
          </a:xfrm>
          <a:prstGeom prst="rect">
            <a:avLst/>
          </a:prstGeom>
        </p:spPr>
      </p:pic>
      <p:cxnSp>
        <p:nvCxnSpPr>
          <p:cNvPr id="5" name="Connector 4"/>
          <p:cNvCxnSpPr/>
          <p:nvPr/>
        </p:nvCxnSpPr>
        <p:spPr>
          <a:xfrm>
            <a:off x="317500" y="965200"/>
            <a:ext cx="11557000" cy="0"/>
          </a:xfrm>
          <a:prstGeom prst="line">
            <a:avLst/>
          </a:prstGeom>
          <a:ln w="19050">
            <a:solidFill>
              <a:srgbClr val="1F6FB2"/>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430000" y="6540500"/>
            <a:ext cx="508000" cy="203200"/>
          </a:xfrm>
          <a:prstGeom prst="rect">
            <a:avLst/>
          </a:prstGeom>
          <a:noFill/>
        </p:spPr>
        <p:txBody>
          <a:bodyPr wrap="square" lIns="25400" rIns="25400" tIns="12700" bIns="12700" anchor="t">
            <a:spAutoFit/>
          </a:bodyPr>
          <a:lstStyle/>
          <a:p>
            <a:pPr algn="r"/>
            <a:r>
              <a:rPr sz="900" b="0" i="0">
                <a:solidFill>
                  <a:srgbClr val="595959"/>
                </a:solidFill>
                <a:latin typeface="Calibri"/>
              </a:rPr>
              <a:t>5</a:t>
            </a:r>
          </a:p>
        </p:txBody>
      </p:sp>
      <p:sp>
        <p:nvSpPr>
          <p:cNvPr id="7" name="TextBox 6"/>
          <p:cNvSpPr txBox="1"/>
          <p:nvPr/>
        </p:nvSpPr>
        <p:spPr>
          <a:xfrm>
            <a:off x="381000" y="1066800"/>
            <a:ext cx="3810000" cy="228600"/>
          </a:xfrm>
          <a:prstGeom prst="rect">
            <a:avLst/>
          </a:prstGeom>
          <a:noFill/>
        </p:spPr>
        <p:txBody>
          <a:bodyPr wrap="square" lIns="25400" rIns="25400" tIns="12700" bIns="12700" anchor="t">
            <a:spAutoFit/>
          </a:bodyPr>
          <a:lstStyle/>
          <a:p>
            <a:r>
              <a:rPr sz="1250" b="1" i="0" u="sng">
                <a:solidFill>
                  <a:srgbClr val="1F6FB2"/>
                </a:solidFill>
                <a:latin typeface="Calibri"/>
              </a:rPr>
              <a:t>Direct Impact on Target Users</a:t>
            </a:r>
          </a:p>
        </p:txBody>
      </p:sp>
      <p:sp>
        <p:nvSpPr>
          <p:cNvPr id="8" name="TextBox 7"/>
          <p:cNvSpPr txBox="1"/>
          <p:nvPr/>
        </p:nvSpPr>
        <p:spPr>
          <a:xfrm>
            <a:off x="381000" y="1320800"/>
            <a:ext cx="5588000" cy="2603500"/>
          </a:xfrm>
          <a:prstGeom prst="rect">
            <a:avLst/>
          </a:prstGeom>
          <a:noFill/>
        </p:spPr>
        <p:txBody>
          <a:bodyPr wrap="square" lIns="25400" rIns="25400" tIns="12700" bIns="12700" anchor="t">
            <a:spAutoFit/>
          </a:bodyPr>
          <a:lstStyle/>
          <a:p>
            <a:pPr>
              <a:spcAft>
                <a:spcPts val="600"/>
              </a:spcAft>
            </a:pPr>
            <a:r>
              <a:rPr sz="1080" b="1" i="0">
                <a:solidFill>
                  <a:srgbClr val="1A1A1A"/>
                </a:solidFill>
                <a:latin typeface="Calibri"/>
              </a:rPr>
              <a:t>•  </a:t>
            </a:r>
            <a:r>
              <a:rPr sz="1080" b="1" i="0">
                <a:solidFill>
                  <a:srgbClr val="1A1A1A"/>
                </a:solidFill>
                <a:latin typeface="Calibri"/>
              </a:rPr>
              <a:t>Outdoor and informal workers:</a:t>
            </a:r>
            <a:r>
              <a:rPr sz="1080" b="0" i="0">
                <a:solidFill>
                  <a:srgbClr val="1A1A1A"/>
                </a:solidFill>
                <a:latin typeface="Calibri"/>
              </a:rPr>
              <a:t> warnings before heat strain turns into heatstroke — the group HeatWatch found most affected among 733 news-reported heat deaths in 2024.</a:t>
            </a:r>
          </a:p>
          <a:p>
            <a:pPr>
              <a:spcAft>
                <a:spcPts val="600"/>
              </a:spcAft>
            </a:pPr>
            <a:r>
              <a:rPr sz="1080" b="1" i="0">
                <a:solidFill>
                  <a:srgbClr val="1A1A1A"/>
                </a:solidFill>
                <a:latin typeface="Calibri"/>
              </a:rPr>
              <a:t>•  </a:t>
            </a:r>
            <a:r>
              <a:rPr sz="1080" b="1" i="0">
                <a:solidFill>
                  <a:srgbClr val="1A1A1A"/>
                </a:solidFill>
                <a:latin typeface="Calibri"/>
              </a:rPr>
              <a:t>Elderly and people with heart or lung conditions:</a:t>
            </a:r>
            <a:r>
              <a:rPr sz="1080" b="0" i="0">
                <a:solidFill>
                  <a:srgbClr val="1A1A1A"/>
                </a:solidFill>
                <a:latin typeface="Calibri"/>
              </a:rPr>
              <a:t> continuous vitals with auto-SOS on falls or abnormal heart rhythm; caregivers get an SMS with location.</a:t>
            </a:r>
          </a:p>
          <a:p>
            <a:pPr>
              <a:spcAft>
                <a:spcPts val="600"/>
              </a:spcAft>
            </a:pPr>
            <a:r>
              <a:rPr sz="1080" b="1" i="0">
                <a:solidFill>
                  <a:srgbClr val="1A1A1A"/>
                </a:solidFill>
                <a:latin typeface="Calibri"/>
              </a:rPr>
              <a:t>•  </a:t>
            </a:r>
            <a:r>
              <a:rPr sz="1080" b="1" i="0">
                <a:solidFill>
                  <a:srgbClr val="1A1A1A"/>
                </a:solidFill>
                <a:latin typeface="Calibri"/>
              </a:rPr>
              <a:t>Rural and low-connectivity users:</a:t>
            </a:r>
            <a:r>
              <a:rPr sz="1080" b="0" i="0">
                <a:solidFill>
                  <a:srgbClr val="1A1A1A"/>
                </a:solidFill>
                <a:latin typeface="Calibri"/>
              </a:rPr>
              <a:t> works fully offline; alerts by vibration and display, so no smartphone skills are needed.</a:t>
            </a:r>
          </a:p>
          <a:p>
            <a:pPr>
              <a:spcAft>
                <a:spcPts val="600"/>
              </a:spcAft>
            </a:pPr>
            <a:r>
              <a:rPr sz="1080" b="1" i="0">
                <a:solidFill>
                  <a:srgbClr val="1A1A1A"/>
                </a:solidFill>
                <a:latin typeface="Calibri"/>
              </a:rPr>
              <a:t>•  </a:t>
            </a:r>
            <a:r>
              <a:rPr sz="1080" b="1" i="0">
                <a:solidFill>
                  <a:srgbClr val="1A1A1A"/>
                </a:solidFill>
                <a:latin typeface="Calibri"/>
              </a:rPr>
              <a:t>ASHA workers and PHCs:</a:t>
            </a:r>
            <a:r>
              <a:rPr sz="1080" b="0" i="0">
                <a:solidFill>
                  <a:srgbClr val="1A1A1A"/>
                </a:solidFill>
                <a:latin typeface="Calibri"/>
              </a:rPr>
              <a:t> receive only escalated cases with vitals attached, for faster triage.</a:t>
            </a:r>
          </a:p>
        </p:txBody>
      </p:sp>
      <p:cxnSp>
        <p:nvCxnSpPr>
          <p:cNvPr id="9" name="Connector 8"/>
          <p:cNvCxnSpPr/>
          <p:nvPr/>
        </p:nvCxnSpPr>
        <p:spPr>
          <a:xfrm>
            <a:off x="317500" y="3911600"/>
            <a:ext cx="5676900" cy="0"/>
          </a:xfrm>
          <a:prstGeom prst="line">
            <a:avLst/>
          </a:prstGeom>
          <a:ln w="12700">
            <a:solidFill>
              <a:srgbClr val="B05450"/>
            </a:solidFill>
            <a:prstDash val="dash"/>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81000" y="4000500"/>
            <a:ext cx="3810000" cy="228600"/>
          </a:xfrm>
          <a:prstGeom prst="rect">
            <a:avLst/>
          </a:prstGeom>
          <a:noFill/>
        </p:spPr>
        <p:txBody>
          <a:bodyPr wrap="square" lIns="25400" rIns="25400" tIns="12700" bIns="12700" anchor="t">
            <a:spAutoFit/>
          </a:bodyPr>
          <a:lstStyle/>
          <a:p>
            <a:r>
              <a:rPr sz="1250" b="1" i="0" u="sng">
                <a:solidFill>
                  <a:srgbClr val="1F6FB2"/>
                </a:solidFill>
                <a:latin typeface="Calibri"/>
              </a:rPr>
              <a:t>Strategic Impact</a:t>
            </a:r>
          </a:p>
        </p:txBody>
      </p:sp>
      <p:sp>
        <p:nvSpPr>
          <p:cNvPr id="11" name="TextBox 10"/>
          <p:cNvSpPr txBox="1"/>
          <p:nvPr/>
        </p:nvSpPr>
        <p:spPr>
          <a:xfrm>
            <a:off x="381000" y="4254500"/>
            <a:ext cx="5588000" cy="2413000"/>
          </a:xfrm>
          <a:prstGeom prst="rect">
            <a:avLst/>
          </a:prstGeom>
          <a:noFill/>
        </p:spPr>
        <p:txBody>
          <a:bodyPr wrap="square" lIns="25400" rIns="25400" tIns="12700" bIns="12700" anchor="t">
            <a:spAutoFit/>
          </a:bodyPr>
          <a:lstStyle/>
          <a:p>
            <a:pPr>
              <a:spcAft>
                <a:spcPts val="600"/>
              </a:spcAft>
            </a:pPr>
            <a:r>
              <a:rPr sz="1080" b="1" i="0">
                <a:solidFill>
                  <a:srgbClr val="1A1A1A"/>
                </a:solidFill>
                <a:latin typeface="Calibri"/>
              </a:rPr>
              <a:t>•  </a:t>
            </a:r>
            <a:r>
              <a:rPr sz="1080" b="1" i="0">
                <a:solidFill>
                  <a:srgbClr val="1A1A1A"/>
                </a:solidFill>
                <a:latin typeface="Calibri"/>
              </a:rPr>
              <a:t>Adds individual early warning</a:t>
            </a:r>
            <a:r>
              <a:rPr sz="1080" b="0" i="0">
                <a:solidFill>
                  <a:srgbClr val="1A1A1A"/>
                </a:solidFill>
                <a:latin typeface="Calibri"/>
              </a:rPr>
              <a:t> to India’s city Heat Action Plans and NCDC heat-illness surveillance.</a:t>
            </a:r>
          </a:p>
          <a:p>
            <a:pPr>
              <a:spcAft>
                <a:spcPts val="600"/>
              </a:spcAft>
            </a:pPr>
            <a:r>
              <a:rPr sz="1080" b="1" i="0">
                <a:solidFill>
                  <a:srgbClr val="1A1A1A"/>
                </a:solidFill>
                <a:latin typeface="Calibri"/>
              </a:rPr>
              <a:t>•  </a:t>
            </a:r>
            <a:r>
              <a:rPr sz="1080" b="1" i="0">
                <a:solidFill>
                  <a:srgbClr val="1A1A1A"/>
                </a:solidFill>
                <a:latin typeface="Calibri"/>
              </a:rPr>
              <a:t>Closes the data gap:</a:t>
            </a:r>
            <a:r>
              <a:rPr sz="1080" b="0" i="0">
                <a:solidFill>
                  <a:srgbClr val="1A1A1A"/>
                </a:solidFill>
                <a:latin typeface="Calibri"/>
              </a:rPr>
              <a:t> official counts are 500–1,500 heat deaths a year, while one 5-day heatwave may cause ~30,000 excess deaths (Narang &amp; Gadgil, 2026); consented, anonymised alerts give districts real-time data.</a:t>
            </a:r>
          </a:p>
          <a:p>
            <a:pPr>
              <a:spcAft>
                <a:spcPts val="600"/>
              </a:spcAft>
            </a:pPr>
            <a:r>
              <a:rPr sz="1080" b="1" i="0">
                <a:solidFill>
                  <a:srgbClr val="1A1A1A"/>
                </a:solidFill>
                <a:latin typeface="Calibri"/>
              </a:rPr>
              <a:t>•  </a:t>
            </a:r>
            <a:r>
              <a:rPr sz="1080" b="1" i="0">
                <a:solidFill>
                  <a:srgbClr val="1A1A1A"/>
                </a:solidFill>
                <a:latin typeface="Calibri"/>
              </a:rPr>
              <a:t>Seeds new research:</a:t>
            </a:r>
            <a:r>
              <a:rPr sz="1080" b="0" i="0">
                <a:solidFill>
                  <a:srgbClr val="1A1A1A"/>
                </a:solidFill>
                <a:latin typeface="Calibri"/>
              </a:rPr>
              <a:t> no ML model yet predicts flood-related health outcomes (Ayaz, 2026); vest data can help build one.</a:t>
            </a:r>
          </a:p>
          <a:p>
            <a:pPr>
              <a:spcAft>
                <a:spcPts val="600"/>
              </a:spcAft>
            </a:pPr>
            <a:r>
              <a:rPr sz="1080" b="1" i="0">
                <a:solidFill>
                  <a:srgbClr val="1A1A1A"/>
                </a:solidFill>
                <a:latin typeface="Calibri"/>
              </a:rPr>
              <a:t>•  </a:t>
            </a:r>
            <a:r>
              <a:rPr sz="1080" b="1" i="0">
                <a:solidFill>
                  <a:srgbClr val="1A1A1A"/>
                </a:solidFill>
                <a:latin typeface="Calibri"/>
              </a:rPr>
              <a:t>Helps responders</a:t>
            </a:r>
            <a:r>
              <a:rPr sz="1080" b="0" i="0">
                <a:solidFill>
                  <a:srgbClr val="1A1A1A"/>
                </a:solidFill>
                <a:latin typeface="Calibri"/>
              </a:rPr>
              <a:t> (NDMA/SDMA, NDRF) locate high-risk people during floods and cyclones.</a:t>
            </a:r>
          </a:p>
        </p:txBody>
      </p:sp>
      <p:cxnSp>
        <p:nvCxnSpPr>
          <p:cNvPr id="12" name="Connector 11"/>
          <p:cNvCxnSpPr/>
          <p:nvPr/>
        </p:nvCxnSpPr>
        <p:spPr>
          <a:xfrm>
            <a:off x="6096000" y="1066800"/>
            <a:ext cx="0" cy="5613400"/>
          </a:xfrm>
          <a:prstGeom prst="line">
            <a:avLst/>
          </a:prstGeom>
          <a:ln w="12700">
            <a:solidFill>
              <a:srgbClr val="B05450"/>
            </a:solidFill>
            <a:prstDash val="dash"/>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248400" y="1066800"/>
            <a:ext cx="3810000" cy="228600"/>
          </a:xfrm>
          <a:prstGeom prst="rect">
            <a:avLst/>
          </a:prstGeom>
          <a:noFill/>
        </p:spPr>
        <p:txBody>
          <a:bodyPr wrap="square" lIns="25400" rIns="25400" tIns="12700" bIns="12700" anchor="t">
            <a:spAutoFit/>
          </a:bodyPr>
          <a:lstStyle/>
          <a:p>
            <a:r>
              <a:rPr sz="1250" b="1" i="0" u="sng">
                <a:solidFill>
                  <a:srgbClr val="1F6FB2"/>
                </a:solidFill>
                <a:latin typeface="Calibri"/>
              </a:rPr>
              <a:t>Economic &amp; Strategic Benefits</a:t>
            </a:r>
          </a:p>
        </p:txBody>
      </p:sp>
      <p:sp>
        <p:nvSpPr>
          <p:cNvPr id="14" name="TextBox 13"/>
          <p:cNvSpPr txBox="1"/>
          <p:nvPr/>
        </p:nvSpPr>
        <p:spPr>
          <a:xfrm>
            <a:off x="6248400" y="1320800"/>
            <a:ext cx="5588000" cy="1905000"/>
          </a:xfrm>
          <a:prstGeom prst="rect">
            <a:avLst/>
          </a:prstGeom>
          <a:noFill/>
        </p:spPr>
        <p:txBody>
          <a:bodyPr wrap="square" lIns="25400" rIns="25400" tIns="12700" bIns="12700" anchor="t">
            <a:spAutoFit/>
          </a:bodyPr>
          <a:lstStyle/>
          <a:p>
            <a:pPr>
              <a:spcAft>
                <a:spcPts val="300"/>
              </a:spcAft>
            </a:pPr>
            <a:r>
              <a:rPr sz="960" b="1" i="0">
                <a:solidFill>
                  <a:srgbClr val="1A1A1A"/>
                </a:solidFill>
                <a:latin typeface="Calibri"/>
              </a:rPr>
              <a:t>•  </a:t>
            </a:r>
            <a:r>
              <a:rPr sz="960" b="1" i="0">
                <a:solidFill>
                  <a:srgbClr val="1A1A1A"/>
                </a:solidFill>
                <a:latin typeface="Calibri"/>
              </a:rPr>
              <a:t>Early warning pays off:</a:t>
            </a:r>
            <a:r>
              <a:rPr sz="960" b="0" i="0">
                <a:solidFill>
                  <a:srgbClr val="1A1A1A"/>
                </a:solidFill>
                <a:latin typeface="Calibri"/>
              </a:rPr>
              <a:t> a graded heat-health warning system was estimated to avoid 220 billion CNY in health costs in China (Wang, 2025).</a:t>
            </a:r>
          </a:p>
          <a:p>
            <a:pPr>
              <a:spcAft>
                <a:spcPts val="300"/>
              </a:spcAft>
            </a:pPr>
            <a:r>
              <a:rPr sz="960" b="1" i="0">
                <a:solidFill>
                  <a:srgbClr val="1A1A1A"/>
                </a:solidFill>
                <a:latin typeface="Calibri"/>
              </a:rPr>
              <a:t>•  </a:t>
            </a:r>
            <a:r>
              <a:rPr sz="960" b="1" i="0">
                <a:solidFill>
                  <a:srgbClr val="1A1A1A"/>
                </a:solidFill>
                <a:latin typeface="Calibri"/>
              </a:rPr>
              <a:t>Air pollution cost India US$36.8 B (1.36% of GDP) in 2019</a:t>
            </a:r>
            <a:r>
              <a:rPr sz="960" b="0" i="0">
                <a:solidFill>
                  <a:srgbClr val="1A1A1A"/>
                </a:solidFill>
                <a:latin typeface="Calibri"/>
              </a:rPr>
              <a:t> — personal PM2.5 + SpO₂ alerts help vulnerable people limit exposure.</a:t>
            </a:r>
          </a:p>
          <a:p>
            <a:pPr>
              <a:spcAft>
                <a:spcPts val="300"/>
              </a:spcAft>
            </a:pPr>
            <a:r>
              <a:rPr sz="960" b="1" i="0">
                <a:solidFill>
                  <a:srgbClr val="1A1A1A"/>
                </a:solidFill>
                <a:latin typeface="Calibri"/>
              </a:rPr>
              <a:t>•  </a:t>
            </a:r>
            <a:r>
              <a:rPr sz="960" b="1" i="0">
                <a:solidFill>
                  <a:srgbClr val="1A1A1A"/>
                </a:solidFill>
                <a:latin typeface="Calibri"/>
              </a:rPr>
              <a:t>Fewer lost workdays and hospital visits</a:t>
            </a:r>
            <a:r>
              <a:rPr sz="960" b="0" i="0">
                <a:solidFill>
                  <a:srgbClr val="1A1A1A"/>
                </a:solidFill>
                <a:latin typeface="Calibri"/>
              </a:rPr>
              <a:t> for employers, insurers and public hospitals during heat seasons.</a:t>
            </a:r>
          </a:p>
          <a:p>
            <a:pPr>
              <a:spcAft>
                <a:spcPts val="300"/>
              </a:spcAft>
            </a:pPr>
            <a:r>
              <a:rPr sz="960" b="1" i="0">
                <a:solidFill>
                  <a:srgbClr val="1A1A1A"/>
                </a:solidFill>
                <a:latin typeface="Calibri"/>
              </a:rPr>
              <a:t>•  </a:t>
            </a:r>
            <a:r>
              <a:rPr sz="960" b="1" i="0">
                <a:solidFill>
                  <a:srgbClr val="1A1A1A"/>
                </a:solidFill>
                <a:latin typeface="Calibri"/>
              </a:rPr>
              <a:t>Made-in-India, data stays on the device</a:t>
            </a:r>
            <a:r>
              <a:rPr sz="960" b="0" i="0">
                <a:solidFill>
                  <a:srgbClr val="1A1A1A"/>
                </a:solidFill>
                <a:latin typeface="Calibri"/>
              </a:rPr>
              <a:t> — commodity hardware, no cloud lock-in.</a:t>
            </a:r>
          </a:p>
        </p:txBody>
      </p:sp>
      <p:pic>
        <p:nvPicPr>
          <p:cNvPr id="15" name="Picture 14" descr="chart.png"/>
          <p:cNvPicPr>
            <a:picLocks noChangeAspect="1"/>
          </p:cNvPicPr>
          <p:nvPr/>
        </p:nvPicPr>
        <p:blipFill>
          <a:blip r:embed="rId3"/>
          <a:stretch>
            <a:fillRect/>
          </a:stretch>
        </p:blipFill>
        <p:spPr>
          <a:xfrm>
            <a:off x="6413500" y="2997200"/>
            <a:ext cx="5270500" cy="2805266"/>
          </a:xfrm>
          <a:prstGeom prst="rect">
            <a:avLst/>
          </a:prstGeom>
        </p:spPr>
      </p:pic>
      <p:sp>
        <p:nvSpPr>
          <p:cNvPr id="16" name="TextBox 15"/>
          <p:cNvSpPr txBox="1"/>
          <p:nvPr/>
        </p:nvSpPr>
        <p:spPr>
          <a:xfrm>
            <a:off x="6248400" y="5867400"/>
            <a:ext cx="5626100" cy="635000"/>
          </a:xfrm>
          <a:prstGeom prst="rect">
            <a:avLst/>
          </a:prstGeom>
          <a:noFill/>
        </p:spPr>
        <p:txBody>
          <a:bodyPr wrap="square" lIns="25400" rIns="25400" tIns="12700" bIns="12700" anchor="t">
            <a:spAutoFit/>
          </a:bodyPr>
          <a:lstStyle/>
          <a:p>
            <a:pPr algn="ctr">
              <a:spcAft>
                <a:spcPts val="100"/>
              </a:spcAft>
            </a:pPr>
            <a:r>
              <a:rPr sz="800" b="1" i="0">
                <a:solidFill>
                  <a:srgbClr val="1A1A1A"/>
                </a:solidFill>
                <a:latin typeface="Calibri"/>
              </a:rPr>
              <a:t>Peak strain: </a:t>
            </a:r>
            <a:r>
              <a:rPr sz="800" b="1" i="0">
                <a:solidFill>
                  <a:srgbClr val="1E7B3A"/>
                </a:solidFill>
                <a:latin typeface="Calibri"/>
              </a:rPr>
              <a:t>8.6 → 5.1</a:t>
            </a:r>
            <a:r>
              <a:rPr sz="800" b="1" i="0">
                <a:solidFill>
                  <a:srgbClr val="1A1A1A"/>
                </a:solidFill>
                <a:latin typeface="Calibri"/>
              </a:rPr>
              <a:t>   |   </a:t>
            </a:r>
            <a:r>
              <a:rPr sz="800" b="1" i="0">
                <a:solidFill>
                  <a:srgbClr val="1A1A1A"/>
                </a:solidFill>
                <a:latin typeface="Calibri"/>
              </a:rPr>
              <a:t>Time in high strain: </a:t>
            </a:r>
            <a:r>
              <a:rPr sz="800" b="1" i="0">
                <a:solidFill>
                  <a:srgbClr val="1E7B3A"/>
                </a:solidFill>
                <a:latin typeface="Calibri"/>
              </a:rPr>
              <a:t>1.8 h → 0 h</a:t>
            </a:r>
          </a:p>
          <a:p>
            <a:pPr algn="ctr"/>
            <a:r>
              <a:rPr sz="660" b="0" i="1">
                <a:solidFill>
                  <a:srgbClr val="595959"/>
                </a:solidFill>
                <a:latin typeface="Calibri"/>
              </a:rPr>
              <a:t>Model: outdoor worker, air temperature 33–44 °C, 30-min lunch break. PSI from core temperature and heart rate (Moran, 1998). With ArogyaAegis, a pre-warning at PSI 5 triggers a 15-min shade + water break (6 breaks over the day).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317500" y="241300"/>
            <a:ext cx="1422400" cy="482600"/>
          </a:xfrm>
          <a:prstGeom prst="ellipse">
            <a:avLst/>
          </a:prstGeom>
          <a:noFill/>
          <a:ln w="2222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50" b="1" i="1">
                <a:solidFill>
                  <a:srgbClr val="1F3864"/>
                </a:solidFill>
                <a:latin typeface="Cambria"/>
              </a:rPr>
              <a:t>ArogyaAegis</a:t>
            </a:r>
          </a:p>
        </p:txBody>
      </p:sp>
      <p:sp>
        <p:nvSpPr>
          <p:cNvPr id="3" name="TextBox 2"/>
          <p:cNvSpPr txBox="1"/>
          <p:nvPr/>
        </p:nvSpPr>
        <p:spPr>
          <a:xfrm>
            <a:off x="1905000" y="152400"/>
            <a:ext cx="8255000" cy="736600"/>
          </a:xfrm>
          <a:prstGeom prst="rect">
            <a:avLst/>
          </a:prstGeom>
          <a:noFill/>
        </p:spPr>
        <p:txBody>
          <a:bodyPr wrap="square" lIns="25400" rIns="25400" tIns="12700" bIns="12700" anchor="ctr">
            <a:spAutoFit/>
          </a:bodyPr>
          <a:lstStyle/>
          <a:p>
            <a:pPr algn="ctr"/>
            <a:r>
              <a:rPr sz="2600" b="1" i="0">
                <a:solidFill>
                  <a:srgbClr val="1F3864"/>
                </a:solidFill>
                <a:latin typeface="Cambria"/>
              </a:rPr>
              <a:t>RESEARCH AND REFERENCES</a:t>
            </a:r>
          </a:p>
        </p:txBody>
      </p:sp>
      <p:pic>
        <p:nvPicPr>
          <p:cNvPr id="4" name="Picture 3" descr="sih_logo.png"/>
          <p:cNvPicPr>
            <a:picLocks noChangeAspect="1"/>
          </p:cNvPicPr>
          <p:nvPr/>
        </p:nvPicPr>
        <p:blipFill>
          <a:blip r:embed="rId2"/>
          <a:stretch>
            <a:fillRect/>
          </a:stretch>
        </p:blipFill>
        <p:spPr>
          <a:xfrm>
            <a:off x="10312400" y="101600"/>
            <a:ext cx="1574800" cy="743739"/>
          </a:xfrm>
          <a:prstGeom prst="rect">
            <a:avLst/>
          </a:prstGeom>
        </p:spPr>
      </p:pic>
      <p:cxnSp>
        <p:nvCxnSpPr>
          <p:cNvPr id="5" name="Connector 4"/>
          <p:cNvCxnSpPr/>
          <p:nvPr/>
        </p:nvCxnSpPr>
        <p:spPr>
          <a:xfrm>
            <a:off x="317500" y="965200"/>
            <a:ext cx="11557000" cy="0"/>
          </a:xfrm>
          <a:prstGeom prst="line">
            <a:avLst/>
          </a:prstGeom>
          <a:ln w="19050">
            <a:solidFill>
              <a:srgbClr val="1F6FB2"/>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430000" y="6540500"/>
            <a:ext cx="508000" cy="203200"/>
          </a:xfrm>
          <a:prstGeom prst="rect">
            <a:avLst/>
          </a:prstGeom>
          <a:noFill/>
        </p:spPr>
        <p:txBody>
          <a:bodyPr wrap="square" lIns="25400" rIns="25400" tIns="12700" bIns="12700" anchor="t">
            <a:spAutoFit/>
          </a:bodyPr>
          <a:lstStyle/>
          <a:p>
            <a:pPr algn="r"/>
            <a:r>
              <a:rPr sz="900" b="0" i="0">
                <a:solidFill>
                  <a:srgbClr val="595959"/>
                </a:solidFill>
                <a:latin typeface="Calibri"/>
              </a:rPr>
              <a:t>6</a:t>
            </a:r>
          </a:p>
        </p:txBody>
      </p:sp>
      <p:sp>
        <p:nvSpPr>
          <p:cNvPr id="7" name="TextBox 6"/>
          <p:cNvSpPr txBox="1"/>
          <p:nvPr/>
        </p:nvSpPr>
        <p:spPr>
          <a:xfrm>
            <a:off x="381000" y="1066800"/>
            <a:ext cx="5588000" cy="228600"/>
          </a:xfrm>
          <a:prstGeom prst="rect">
            <a:avLst/>
          </a:prstGeom>
          <a:noFill/>
        </p:spPr>
        <p:txBody>
          <a:bodyPr wrap="square" lIns="25400" rIns="25400" tIns="12700" bIns="12700" anchor="t">
            <a:spAutoFit/>
          </a:bodyPr>
          <a:lstStyle/>
          <a:p>
            <a:r>
              <a:rPr sz="1150" b="1" i="0" u="sng">
                <a:solidFill>
                  <a:srgbClr val="1F6FB2"/>
                </a:solidFill>
                <a:latin typeface="Calibri"/>
              </a:rPr>
              <a:t>Problem Evidence — News &amp; Official Data</a:t>
            </a:r>
          </a:p>
        </p:txBody>
      </p:sp>
      <p:sp>
        <p:nvSpPr>
          <p:cNvPr id="8" name="TextBox 7"/>
          <p:cNvSpPr txBox="1"/>
          <p:nvPr/>
        </p:nvSpPr>
        <p:spPr>
          <a:xfrm>
            <a:off x="381000" y="1308100"/>
            <a:ext cx="5588000" cy="1905000"/>
          </a:xfrm>
          <a:prstGeom prst="rect">
            <a:avLst/>
          </a:prstGeom>
          <a:noFill/>
        </p:spPr>
        <p:txBody>
          <a:bodyPr wrap="square" lIns="25400" rIns="25400" tIns="12700" bIns="12700" anchor="t">
            <a:spAutoFit/>
          </a:bodyPr>
          <a:lstStyle/>
          <a:p>
            <a:pPr>
              <a:spcAft>
                <a:spcPts val="500"/>
              </a:spcAft>
            </a:pPr>
            <a:r>
              <a:rPr sz="919" b="1" i="0">
                <a:solidFill>
                  <a:srgbClr val="1A1A1A"/>
                </a:solidFill>
                <a:latin typeface="Calibri"/>
              </a:rPr>
              <a:t>•  </a:t>
            </a:r>
            <a:r>
              <a:rPr sz="919" b="1" i="0" u="sng">
                <a:solidFill>
                  <a:srgbClr val="1F6FB2"/>
                </a:solidFill>
                <a:latin typeface="Calibri"/>
                <a:hlinkClick r:id="rId3"/>
              </a:rPr>
              <a:t>Tribune India (20 Jun 2024)</a:t>
            </a:r>
            <a:r>
              <a:rPr sz="919" b="0" i="0">
                <a:solidFill>
                  <a:srgbClr val="1A1A1A"/>
                </a:solidFill>
                <a:latin typeface="Calibri"/>
              </a:rPr>
              <a:t> — MoHFW: 110 heat deaths and 40,000+ suspected heatstroke cases, 1 Mar–18 Jun 2024.</a:t>
            </a:r>
            <a:r>
              <a:rPr sz="919" b="1" i="0">
                <a:solidFill>
                  <a:srgbClr val="1F6FB2"/>
                </a:solidFill>
                <a:latin typeface="Calibri"/>
                <a:hlinkClick r:id="rId3"/>
              </a:rPr>
              <a:t> [Open]</a:t>
            </a:r>
          </a:p>
          <a:p>
            <a:pPr>
              <a:spcAft>
                <a:spcPts val="500"/>
              </a:spcAft>
            </a:pPr>
            <a:r>
              <a:rPr sz="919" b="1" i="0">
                <a:solidFill>
                  <a:srgbClr val="1A1A1A"/>
                </a:solidFill>
                <a:latin typeface="Calibri"/>
              </a:rPr>
              <a:t>•  </a:t>
            </a:r>
            <a:r>
              <a:rPr sz="919" b="1" i="0" u="sng">
                <a:solidFill>
                  <a:srgbClr val="1F6FB2"/>
                </a:solidFill>
                <a:latin typeface="Calibri"/>
                <a:hlinkClick r:id="rId4"/>
              </a:rPr>
              <a:t>HeatWatch (27 Jul 2024)</a:t>
            </a:r>
            <a:r>
              <a:rPr sz="919" b="0" i="0">
                <a:solidFill>
                  <a:srgbClr val="1A1A1A"/>
                </a:solidFill>
                <a:latin typeface="Calibri"/>
              </a:rPr>
              <a:t> — 733 heat deaths in news reports vs 360 official across 17 states; outdoor workers and 33 polling officers among the dead.</a:t>
            </a:r>
            <a:r>
              <a:rPr sz="919" b="1" i="0">
                <a:solidFill>
                  <a:srgbClr val="1F6FB2"/>
                </a:solidFill>
                <a:latin typeface="Calibri"/>
                <a:hlinkClick r:id="rId4"/>
              </a:rPr>
              <a:t> [Open]</a:t>
            </a:r>
          </a:p>
          <a:p>
            <a:pPr>
              <a:spcAft>
                <a:spcPts val="500"/>
              </a:spcAft>
            </a:pPr>
            <a:r>
              <a:rPr sz="919" b="1" i="0">
                <a:solidFill>
                  <a:srgbClr val="1A1A1A"/>
                </a:solidFill>
                <a:latin typeface="Calibri"/>
              </a:rPr>
              <a:t>•  </a:t>
            </a:r>
            <a:r>
              <a:rPr sz="919" b="1" i="0" u="sng">
                <a:solidFill>
                  <a:srgbClr val="1F6FB2"/>
                </a:solidFill>
                <a:latin typeface="Calibri"/>
                <a:hlinkClick r:id="rId5"/>
              </a:rPr>
              <a:t>Euronews (10 Jun 2026)</a:t>
            </a:r>
            <a:r>
              <a:rPr sz="919" b="0" i="0">
                <a:solidFill>
                  <a:srgbClr val="1A1A1A"/>
                </a:solidFill>
                <a:latin typeface="Calibri"/>
              </a:rPr>
              <a:t> — official counts of 500–1,500 heat deaths a year vs research estimates of tens of thousands.</a:t>
            </a:r>
            <a:r>
              <a:rPr sz="919" b="1" i="0">
                <a:solidFill>
                  <a:srgbClr val="1F6FB2"/>
                </a:solidFill>
                <a:latin typeface="Calibri"/>
                <a:hlinkClick r:id="rId5"/>
              </a:rPr>
              <a:t> [Open]</a:t>
            </a:r>
          </a:p>
          <a:p>
            <a:pPr>
              <a:spcAft>
                <a:spcPts val="500"/>
              </a:spcAft>
            </a:pPr>
            <a:r>
              <a:rPr sz="919" b="1" i="0">
                <a:solidFill>
                  <a:srgbClr val="1A1A1A"/>
                </a:solidFill>
                <a:latin typeface="Calibri"/>
              </a:rPr>
              <a:t>•  </a:t>
            </a:r>
            <a:r>
              <a:rPr sz="919" b="1" i="0" u="sng">
                <a:solidFill>
                  <a:srgbClr val="1F6FB2"/>
                </a:solidFill>
                <a:latin typeface="Calibri"/>
                <a:hlinkClick r:id="rId6"/>
              </a:rPr>
              <a:t>ETV Bharat (Jun 2026)</a:t>
            </a:r>
            <a:r>
              <a:rPr sz="919" b="0" i="0">
                <a:solidFill>
                  <a:srgbClr val="1A1A1A"/>
                </a:solidFill>
                <a:latin typeface="Calibri"/>
              </a:rPr>
              <a:t> — MHA: about 5,000 flood and landslide deaths in the last three years.</a:t>
            </a:r>
            <a:r>
              <a:rPr sz="919" b="1" i="0">
                <a:solidFill>
                  <a:srgbClr val="1F6FB2"/>
                </a:solidFill>
                <a:latin typeface="Calibri"/>
                <a:hlinkClick r:id="rId6"/>
              </a:rPr>
              <a:t> [Open]</a:t>
            </a:r>
          </a:p>
        </p:txBody>
      </p:sp>
      <p:sp>
        <p:nvSpPr>
          <p:cNvPr id="9" name="TextBox 8"/>
          <p:cNvSpPr txBox="1"/>
          <p:nvPr/>
        </p:nvSpPr>
        <p:spPr>
          <a:xfrm>
            <a:off x="6248400" y="1066800"/>
            <a:ext cx="5588000" cy="228600"/>
          </a:xfrm>
          <a:prstGeom prst="rect">
            <a:avLst/>
          </a:prstGeom>
          <a:noFill/>
        </p:spPr>
        <p:txBody>
          <a:bodyPr wrap="square" lIns="25400" rIns="25400" tIns="12700" bIns="12700" anchor="t">
            <a:spAutoFit/>
          </a:bodyPr>
          <a:lstStyle/>
          <a:p>
            <a:r>
              <a:rPr sz="1150" b="1" i="0" u="sng">
                <a:solidFill>
                  <a:srgbClr val="1F6FB2"/>
                </a:solidFill>
                <a:latin typeface="Calibri"/>
              </a:rPr>
              <a:t>Health Burden &amp; Heat-Health Warning</a:t>
            </a:r>
          </a:p>
        </p:txBody>
      </p:sp>
      <p:sp>
        <p:nvSpPr>
          <p:cNvPr id="10" name="TextBox 9"/>
          <p:cNvSpPr txBox="1"/>
          <p:nvPr/>
        </p:nvSpPr>
        <p:spPr>
          <a:xfrm>
            <a:off x="6248400" y="1308100"/>
            <a:ext cx="5588000" cy="1905000"/>
          </a:xfrm>
          <a:prstGeom prst="rect">
            <a:avLst/>
          </a:prstGeom>
          <a:noFill/>
        </p:spPr>
        <p:txBody>
          <a:bodyPr wrap="square" lIns="25400" rIns="25400" tIns="12700" bIns="12700" anchor="t">
            <a:spAutoFit/>
          </a:bodyPr>
          <a:lstStyle/>
          <a:p>
            <a:pPr>
              <a:spcAft>
                <a:spcPts val="500"/>
              </a:spcAft>
            </a:pPr>
            <a:r>
              <a:rPr sz="919" b="1" i="0">
                <a:solidFill>
                  <a:srgbClr val="1A1A1A"/>
                </a:solidFill>
                <a:latin typeface="Calibri"/>
              </a:rPr>
              <a:t>•  </a:t>
            </a:r>
            <a:r>
              <a:rPr sz="919" b="1" i="0" u="sng">
                <a:solidFill>
                  <a:srgbClr val="1F6FB2"/>
                </a:solidFill>
                <a:latin typeface="Calibri"/>
                <a:hlinkClick r:id="rId7"/>
              </a:rPr>
              <a:t>Narang &amp; Gadgil (2026)</a:t>
            </a:r>
            <a:r>
              <a:rPr sz="919" b="0" i="0">
                <a:solidFill>
                  <a:srgbClr val="1A1A1A"/>
                </a:solidFill>
                <a:latin typeface="Calibri"/>
              </a:rPr>
              <a:t>, Frontiers in Environmental Health — ~3,400 excess deaths per extreme-heat day, ~30,000 per 5-day heatwave.</a:t>
            </a:r>
            <a:r>
              <a:rPr sz="919" b="1" i="0">
                <a:solidFill>
                  <a:srgbClr val="1F6FB2"/>
                </a:solidFill>
                <a:latin typeface="Calibri"/>
                <a:hlinkClick r:id="rId7"/>
              </a:rPr>
              <a:t> [Open]</a:t>
            </a:r>
          </a:p>
          <a:p>
            <a:pPr>
              <a:spcAft>
                <a:spcPts val="500"/>
              </a:spcAft>
            </a:pPr>
            <a:r>
              <a:rPr sz="919" b="1" i="0">
                <a:solidFill>
                  <a:srgbClr val="1A1A1A"/>
                </a:solidFill>
                <a:latin typeface="Calibri"/>
              </a:rPr>
              <a:t>•  </a:t>
            </a:r>
            <a:r>
              <a:rPr sz="919" b="1" i="0" u="sng">
                <a:solidFill>
                  <a:srgbClr val="1F6FB2"/>
                </a:solidFill>
                <a:latin typeface="Calibri"/>
                <a:hlinkClick r:id="rId8"/>
              </a:rPr>
              <a:t>India State-Level Disease Burden Initiative (2021)</a:t>
            </a:r>
            <a:r>
              <a:rPr sz="919" b="0" i="0">
                <a:solidFill>
                  <a:srgbClr val="1A1A1A"/>
                </a:solidFill>
                <a:latin typeface="Calibri"/>
              </a:rPr>
              <a:t>, Lancet Planetary Health — air pollution: 1.67 M deaths (17.8%) in 2019; US$36.8 B loss.</a:t>
            </a:r>
            <a:r>
              <a:rPr sz="919" b="1" i="0">
                <a:solidFill>
                  <a:srgbClr val="1F6FB2"/>
                </a:solidFill>
                <a:latin typeface="Calibri"/>
                <a:hlinkClick r:id="rId8"/>
              </a:rPr>
              <a:t> [Open]</a:t>
            </a:r>
          </a:p>
          <a:p>
            <a:pPr>
              <a:spcAft>
                <a:spcPts val="500"/>
              </a:spcAft>
            </a:pPr>
            <a:r>
              <a:rPr sz="919" b="1" i="0">
                <a:solidFill>
                  <a:srgbClr val="1A1A1A"/>
                </a:solidFill>
                <a:latin typeface="Calibri"/>
              </a:rPr>
              <a:t>•  </a:t>
            </a:r>
            <a:r>
              <a:rPr sz="919" b="1" i="0" u="sng">
                <a:solidFill>
                  <a:srgbClr val="1F6FB2"/>
                </a:solidFill>
                <a:latin typeface="Calibri"/>
                <a:hlinkClick r:id="rId9"/>
              </a:rPr>
              <a:t>Wang et al. (2025)</a:t>
            </a:r>
            <a:r>
              <a:rPr sz="919" b="0" i="0">
                <a:solidFill>
                  <a:srgbClr val="1A1A1A"/>
                </a:solidFill>
                <a:latin typeface="Calibri"/>
              </a:rPr>
              <a:t>, Lancet Regional Health – Western Pacific — graded heat-health warning (HHSEW) model.</a:t>
            </a:r>
            <a:r>
              <a:rPr sz="919" b="1" i="0">
                <a:solidFill>
                  <a:srgbClr val="1F6FB2"/>
                </a:solidFill>
                <a:latin typeface="Calibri"/>
                <a:hlinkClick r:id="rId9"/>
              </a:rPr>
              <a:t> [Open]</a:t>
            </a:r>
          </a:p>
          <a:p>
            <a:pPr>
              <a:spcAft>
                <a:spcPts val="500"/>
              </a:spcAft>
            </a:pPr>
            <a:r>
              <a:rPr sz="919" b="1" i="0">
                <a:solidFill>
                  <a:srgbClr val="1A1A1A"/>
                </a:solidFill>
                <a:latin typeface="Calibri"/>
              </a:rPr>
              <a:t>•  </a:t>
            </a:r>
            <a:r>
              <a:rPr sz="919" b="1" i="0" u="sng">
                <a:solidFill>
                  <a:srgbClr val="1F6FB2"/>
                </a:solidFill>
                <a:latin typeface="Calibri"/>
                <a:hlinkClick r:id="rId10"/>
              </a:rPr>
              <a:t>Li et al. (2022)</a:t>
            </a:r>
            <a:r>
              <a:rPr sz="919" b="0" i="0">
                <a:solidFill>
                  <a:srgbClr val="1A1A1A"/>
                </a:solidFill>
                <a:latin typeface="Calibri"/>
              </a:rPr>
              <a:t>, The Lancet — the global need for smart heat-health warning systems.</a:t>
            </a:r>
            <a:r>
              <a:rPr sz="919" b="1" i="0">
                <a:solidFill>
                  <a:srgbClr val="1F6FB2"/>
                </a:solidFill>
                <a:latin typeface="Calibri"/>
                <a:hlinkClick r:id="rId10"/>
              </a:rPr>
              <a:t> [Open]</a:t>
            </a:r>
          </a:p>
        </p:txBody>
      </p:sp>
      <p:cxnSp>
        <p:nvCxnSpPr>
          <p:cNvPr id="11" name="Connector 10"/>
          <p:cNvCxnSpPr/>
          <p:nvPr/>
        </p:nvCxnSpPr>
        <p:spPr>
          <a:xfrm>
            <a:off x="317500" y="3175000"/>
            <a:ext cx="11557000" cy="0"/>
          </a:xfrm>
          <a:prstGeom prst="line">
            <a:avLst/>
          </a:prstGeom>
          <a:ln w="12700">
            <a:solidFill>
              <a:srgbClr val="B05450"/>
            </a:solidFill>
            <a:prstDash val="dash"/>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81000" y="3251200"/>
            <a:ext cx="5588000" cy="228600"/>
          </a:xfrm>
          <a:prstGeom prst="rect">
            <a:avLst/>
          </a:prstGeom>
          <a:noFill/>
        </p:spPr>
        <p:txBody>
          <a:bodyPr wrap="square" lIns="25400" rIns="25400" tIns="12700" bIns="12700" anchor="t">
            <a:spAutoFit/>
          </a:bodyPr>
          <a:lstStyle/>
          <a:p>
            <a:r>
              <a:rPr sz="1150" b="1" i="0" u="sng">
                <a:solidFill>
                  <a:srgbClr val="1F6FB2"/>
                </a:solidFill>
                <a:latin typeface="Calibri"/>
              </a:rPr>
              <a:t>Edge AI on Wearables — Technology Validation</a:t>
            </a:r>
          </a:p>
        </p:txBody>
      </p:sp>
      <p:sp>
        <p:nvSpPr>
          <p:cNvPr id="13" name="TextBox 12"/>
          <p:cNvSpPr txBox="1"/>
          <p:nvPr/>
        </p:nvSpPr>
        <p:spPr>
          <a:xfrm>
            <a:off x="381000" y="3492500"/>
            <a:ext cx="5588000" cy="1651000"/>
          </a:xfrm>
          <a:prstGeom prst="rect">
            <a:avLst/>
          </a:prstGeom>
          <a:noFill/>
        </p:spPr>
        <p:txBody>
          <a:bodyPr wrap="square" lIns="25400" rIns="25400" tIns="12700" bIns="12700" anchor="t">
            <a:spAutoFit/>
          </a:bodyPr>
          <a:lstStyle/>
          <a:p>
            <a:pPr>
              <a:spcAft>
                <a:spcPts val="500"/>
              </a:spcAft>
            </a:pPr>
            <a:r>
              <a:rPr sz="919" b="1" i="0">
                <a:solidFill>
                  <a:srgbClr val="1A1A1A"/>
                </a:solidFill>
                <a:latin typeface="Calibri"/>
              </a:rPr>
              <a:t>•  </a:t>
            </a:r>
            <a:r>
              <a:rPr sz="919" b="1" i="0" u="sng">
                <a:solidFill>
                  <a:srgbClr val="1F6FB2"/>
                </a:solidFill>
                <a:latin typeface="Calibri"/>
                <a:hlinkClick r:id="rId11"/>
              </a:rPr>
              <a:t>Oloko-Oba et al. (2026)</a:t>
            </a:r>
            <a:r>
              <a:rPr sz="919" b="0" i="0">
                <a:solidFill>
                  <a:srgbClr val="1A1A1A"/>
                </a:solidFill>
                <a:latin typeface="Calibri"/>
              </a:rPr>
              <a:t>, Bioengineering — review of real-time edge ML for wearable biosignals.</a:t>
            </a:r>
            <a:r>
              <a:rPr sz="919" b="1" i="0">
                <a:solidFill>
                  <a:srgbClr val="1F6FB2"/>
                </a:solidFill>
                <a:latin typeface="Calibri"/>
                <a:hlinkClick r:id="rId11"/>
              </a:rPr>
              <a:t> [Open]</a:t>
            </a:r>
          </a:p>
          <a:p>
            <a:pPr>
              <a:spcAft>
                <a:spcPts val="500"/>
              </a:spcAft>
            </a:pPr>
            <a:r>
              <a:rPr sz="919" b="1" i="0">
                <a:solidFill>
                  <a:srgbClr val="1A1A1A"/>
                </a:solidFill>
                <a:latin typeface="Calibri"/>
              </a:rPr>
              <a:t>•  </a:t>
            </a:r>
            <a:r>
              <a:rPr sz="919" b="1" i="0" u="sng">
                <a:solidFill>
                  <a:srgbClr val="1F6FB2"/>
                </a:solidFill>
                <a:latin typeface="Calibri"/>
                <a:hlinkClick r:id="rId12"/>
              </a:rPr>
              <a:t>Kim et al. (2026)</a:t>
            </a:r>
            <a:r>
              <a:rPr sz="919" b="0" i="0">
                <a:solidFill>
                  <a:srgbClr val="1A1A1A"/>
                </a:solidFill>
                <a:latin typeface="Calibri"/>
              </a:rPr>
              <a:t>, IEEE Trans. Consumer Electronics — 94.8% on-device anomaly detection (ECG/PPG/accel/temp).</a:t>
            </a:r>
            <a:r>
              <a:rPr sz="919" b="1" i="0">
                <a:solidFill>
                  <a:srgbClr val="1F6FB2"/>
                </a:solidFill>
                <a:latin typeface="Calibri"/>
                <a:hlinkClick r:id="rId12"/>
              </a:rPr>
              <a:t> [Open]</a:t>
            </a:r>
          </a:p>
          <a:p>
            <a:pPr>
              <a:spcAft>
                <a:spcPts val="500"/>
              </a:spcAft>
            </a:pPr>
            <a:r>
              <a:rPr sz="919" b="1" i="0">
                <a:solidFill>
                  <a:srgbClr val="1A1A1A"/>
                </a:solidFill>
                <a:latin typeface="Calibri"/>
              </a:rPr>
              <a:t>•  </a:t>
            </a:r>
            <a:r>
              <a:rPr sz="919" b="1" i="0" u="sng">
                <a:solidFill>
                  <a:srgbClr val="1F6FB2"/>
                </a:solidFill>
                <a:latin typeface="Calibri"/>
                <a:hlinkClick r:id="rId13"/>
              </a:rPr>
              <a:t>Jaber (2026)</a:t>
            </a:r>
            <a:r>
              <a:rPr sz="919" b="0" i="0">
                <a:solidFill>
                  <a:srgbClr val="1A1A1A"/>
                </a:solidFill>
                <a:latin typeface="Calibri"/>
              </a:rPr>
              <a:t>, IJRIAS — 47 ms on-wearable stress inference; F1 89.7% on WESAD.</a:t>
            </a:r>
            <a:r>
              <a:rPr sz="919" b="1" i="0">
                <a:solidFill>
                  <a:srgbClr val="1F6FB2"/>
                </a:solidFill>
                <a:latin typeface="Calibri"/>
                <a:hlinkClick r:id="rId13"/>
              </a:rPr>
              <a:t> [Open]</a:t>
            </a:r>
          </a:p>
          <a:p>
            <a:pPr>
              <a:spcAft>
                <a:spcPts val="500"/>
              </a:spcAft>
            </a:pPr>
            <a:r>
              <a:rPr sz="919" b="1" i="0">
                <a:solidFill>
                  <a:srgbClr val="1A1A1A"/>
                </a:solidFill>
                <a:latin typeface="Calibri"/>
              </a:rPr>
              <a:t>•  </a:t>
            </a:r>
            <a:r>
              <a:rPr sz="919" b="1" i="0" u="sng">
                <a:solidFill>
                  <a:srgbClr val="1F6FB2"/>
                </a:solidFill>
                <a:latin typeface="Calibri"/>
                <a:hlinkClick r:id="rId14"/>
              </a:rPr>
              <a:t>Jayathilake et al. (2025)</a:t>
            </a:r>
            <a:r>
              <a:rPr sz="919" b="0" i="0">
                <a:solidFill>
                  <a:srgbClr val="1A1A1A"/>
                </a:solidFill>
                <a:latin typeface="Calibri"/>
              </a:rPr>
              <a:t>, IEEE Sensors Journal — edge PPG: HR error 2.21 bpm, RR ±1.35 breaths/min.</a:t>
            </a:r>
            <a:r>
              <a:rPr sz="919" b="1" i="0">
                <a:solidFill>
                  <a:srgbClr val="1F6FB2"/>
                </a:solidFill>
                <a:latin typeface="Calibri"/>
                <a:hlinkClick r:id="rId14"/>
              </a:rPr>
              <a:t> [Open]</a:t>
            </a:r>
          </a:p>
        </p:txBody>
      </p:sp>
      <p:sp>
        <p:nvSpPr>
          <p:cNvPr id="14" name="TextBox 13"/>
          <p:cNvSpPr txBox="1"/>
          <p:nvPr/>
        </p:nvSpPr>
        <p:spPr>
          <a:xfrm>
            <a:off x="6248400" y="3251200"/>
            <a:ext cx="5588000" cy="228600"/>
          </a:xfrm>
          <a:prstGeom prst="rect">
            <a:avLst/>
          </a:prstGeom>
          <a:noFill/>
        </p:spPr>
        <p:txBody>
          <a:bodyPr wrap="square" lIns="25400" rIns="25400" tIns="12700" bIns="12700" anchor="t">
            <a:spAutoFit/>
          </a:bodyPr>
          <a:lstStyle/>
          <a:p>
            <a:r>
              <a:rPr sz="1150" b="1" i="0" u="sng">
                <a:solidFill>
                  <a:srgbClr val="1F6FB2"/>
                </a:solidFill>
                <a:latin typeface="Calibri"/>
              </a:rPr>
              <a:t>Climate-Health AI &amp; Research Gaps</a:t>
            </a:r>
          </a:p>
        </p:txBody>
      </p:sp>
      <p:sp>
        <p:nvSpPr>
          <p:cNvPr id="15" name="TextBox 14"/>
          <p:cNvSpPr txBox="1"/>
          <p:nvPr/>
        </p:nvSpPr>
        <p:spPr>
          <a:xfrm>
            <a:off x="6248400" y="3492500"/>
            <a:ext cx="5588000" cy="1651000"/>
          </a:xfrm>
          <a:prstGeom prst="rect">
            <a:avLst/>
          </a:prstGeom>
          <a:noFill/>
        </p:spPr>
        <p:txBody>
          <a:bodyPr wrap="square" lIns="25400" rIns="25400" tIns="12700" bIns="12700" anchor="t">
            <a:spAutoFit/>
          </a:bodyPr>
          <a:lstStyle/>
          <a:p>
            <a:pPr>
              <a:spcAft>
                <a:spcPts val="500"/>
              </a:spcAft>
            </a:pPr>
            <a:r>
              <a:rPr sz="919" b="1" i="0">
                <a:solidFill>
                  <a:srgbClr val="1A1A1A"/>
                </a:solidFill>
                <a:latin typeface="Calibri"/>
              </a:rPr>
              <a:t>•  </a:t>
            </a:r>
            <a:r>
              <a:rPr sz="919" b="1" i="0" u="sng">
                <a:solidFill>
                  <a:srgbClr val="1F6FB2"/>
                </a:solidFill>
                <a:latin typeface="Calibri"/>
                <a:hlinkClick r:id="rId15"/>
              </a:rPr>
              <a:t>Ayaz et al. (2026)</a:t>
            </a:r>
            <a:r>
              <a:rPr sz="919" b="0" i="0">
                <a:solidFill>
                  <a:srgbClr val="1A1A1A"/>
                </a:solidFill>
                <a:latin typeface="Calibri"/>
              </a:rPr>
              <a:t>, Frontiers in Climate — 17 of 18 ML studies on heat, none on flood-health outcomes.</a:t>
            </a:r>
            <a:r>
              <a:rPr sz="919" b="1" i="0">
                <a:solidFill>
                  <a:srgbClr val="1F6FB2"/>
                </a:solidFill>
                <a:latin typeface="Calibri"/>
                <a:hlinkClick r:id="rId15"/>
              </a:rPr>
              <a:t> [Open]</a:t>
            </a:r>
          </a:p>
          <a:p>
            <a:pPr>
              <a:spcAft>
                <a:spcPts val="500"/>
              </a:spcAft>
            </a:pPr>
            <a:r>
              <a:rPr sz="919" b="1" i="0">
                <a:solidFill>
                  <a:srgbClr val="1A1A1A"/>
                </a:solidFill>
                <a:latin typeface="Calibri"/>
              </a:rPr>
              <a:t>•  </a:t>
            </a:r>
            <a:r>
              <a:rPr sz="919" b="1" i="0" u="sng">
                <a:solidFill>
                  <a:srgbClr val="1F6FB2"/>
                </a:solidFill>
                <a:latin typeface="Calibri"/>
                <a:hlinkClick r:id="rId16"/>
              </a:rPr>
              <a:t>Ssebyala et al. (2024)</a:t>
            </a:r>
            <a:r>
              <a:rPr sz="919" b="0" i="0">
                <a:solidFill>
                  <a:srgbClr val="1A1A1A"/>
                </a:solidFill>
                <a:latin typeface="Calibri"/>
              </a:rPr>
              <a:t>, PLOS Climate — ML to predict health risks from extreme weather.</a:t>
            </a:r>
            <a:r>
              <a:rPr sz="919" b="1" i="0">
                <a:solidFill>
                  <a:srgbClr val="1F6FB2"/>
                </a:solidFill>
                <a:latin typeface="Calibri"/>
                <a:hlinkClick r:id="rId16"/>
              </a:rPr>
              <a:t> [Open]</a:t>
            </a:r>
          </a:p>
          <a:p>
            <a:pPr>
              <a:spcAft>
                <a:spcPts val="500"/>
              </a:spcAft>
            </a:pPr>
            <a:r>
              <a:rPr sz="919" b="1" i="0">
                <a:solidFill>
                  <a:srgbClr val="1A1A1A"/>
                </a:solidFill>
                <a:latin typeface="Calibri"/>
              </a:rPr>
              <a:t>•  </a:t>
            </a:r>
            <a:r>
              <a:rPr sz="919" b="1" i="0" u="sng">
                <a:solidFill>
                  <a:srgbClr val="1F6FB2"/>
                </a:solidFill>
                <a:latin typeface="Calibri"/>
                <a:hlinkClick r:id="rId17"/>
              </a:rPr>
              <a:t>Subramaniam et al. (2022)</a:t>
            </a:r>
            <a:r>
              <a:rPr sz="919" b="0" i="0">
                <a:solidFill>
                  <a:srgbClr val="1A1A1A"/>
                </a:solidFill>
                <a:latin typeface="Calibri"/>
              </a:rPr>
              <a:t>, Sustainability — hybrid AI for PM2.5 and air-quality forecasting.</a:t>
            </a:r>
            <a:r>
              <a:rPr sz="919" b="1" i="0">
                <a:solidFill>
                  <a:srgbClr val="1F6FB2"/>
                </a:solidFill>
                <a:latin typeface="Calibri"/>
                <a:hlinkClick r:id="rId17"/>
              </a:rPr>
              <a:t> [Open]</a:t>
            </a:r>
          </a:p>
          <a:p>
            <a:pPr>
              <a:spcAft>
                <a:spcPts val="500"/>
              </a:spcAft>
            </a:pPr>
            <a:r>
              <a:rPr sz="919" b="1" i="0">
                <a:solidFill>
                  <a:srgbClr val="1A1A1A"/>
                </a:solidFill>
                <a:latin typeface="Calibri"/>
              </a:rPr>
              <a:t>•  </a:t>
            </a:r>
            <a:r>
              <a:rPr sz="919" b="1" i="0" u="sng">
                <a:solidFill>
                  <a:srgbClr val="1F6FB2"/>
                </a:solidFill>
                <a:latin typeface="Calibri"/>
                <a:hlinkClick r:id="rId18"/>
              </a:rPr>
              <a:t>Moran et al. (1998)</a:t>
            </a:r>
            <a:r>
              <a:rPr sz="919" b="0" i="0">
                <a:solidFill>
                  <a:srgbClr val="1A1A1A"/>
                </a:solidFill>
                <a:latin typeface="Calibri"/>
              </a:rPr>
              <a:t>, Am. J. Physiology — the Physiological Strain Index (PSI).</a:t>
            </a:r>
            <a:r>
              <a:rPr sz="919" b="1" i="0">
                <a:solidFill>
                  <a:srgbClr val="1F6FB2"/>
                </a:solidFill>
                <a:latin typeface="Calibri"/>
                <a:hlinkClick r:id="rId18"/>
              </a:rPr>
              <a:t> [Open]</a:t>
            </a:r>
          </a:p>
        </p:txBody>
      </p:sp>
      <p:cxnSp>
        <p:nvCxnSpPr>
          <p:cNvPr id="16" name="Connector 15"/>
          <p:cNvCxnSpPr/>
          <p:nvPr/>
        </p:nvCxnSpPr>
        <p:spPr>
          <a:xfrm>
            <a:off x="317500" y="4978400"/>
            <a:ext cx="11557000" cy="0"/>
          </a:xfrm>
          <a:prstGeom prst="line">
            <a:avLst/>
          </a:prstGeom>
          <a:ln w="12700">
            <a:solidFill>
              <a:srgbClr val="B05450"/>
            </a:solidFill>
            <a:prstDash val="dash"/>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81000" y="5054600"/>
            <a:ext cx="5588000" cy="228600"/>
          </a:xfrm>
          <a:prstGeom prst="rect">
            <a:avLst/>
          </a:prstGeom>
          <a:noFill/>
        </p:spPr>
        <p:txBody>
          <a:bodyPr wrap="square" lIns="25400" rIns="25400" tIns="12700" bIns="12700" anchor="t">
            <a:spAutoFit/>
          </a:bodyPr>
          <a:lstStyle/>
          <a:p>
            <a:r>
              <a:rPr sz="1150" b="1" i="0" u="sng">
                <a:solidFill>
                  <a:srgbClr val="1F6FB2"/>
                </a:solidFill>
                <a:latin typeface="Calibri"/>
              </a:rPr>
              <a:t>Privacy &amp; India Deployment</a:t>
            </a:r>
          </a:p>
        </p:txBody>
      </p:sp>
      <p:sp>
        <p:nvSpPr>
          <p:cNvPr id="18" name="TextBox 17"/>
          <p:cNvSpPr txBox="1"/>
          <p:nvPr/>
        </p:nvSpPr>
        <p:spPr>
          <a:xfrm>
            <a:off x="381000" y="5295900"/>
            <a:ext cx="5588000" cy="1587500"/>
          </a:xfrm>
          <a:prstGeom prst="rect">
            <a:avLst/>
          </a:prstGeom>
          <a:noFill/>
        </p:spPr>
        <p:txBody>
          <a:bodyPr wrap="square" lIns="25400" rIns="25400" tIns="12700" bIns="12700" anchor="t">
            <a:spAutoFit/>
          </a:bodyPr>
          <a:lstStyle/>
          <a:p>
            <a:pPr>
              <a:spcAft>
                <a:spcPts val="500"/>
              </a:spcAft>
            </a:pPr>
            <a:r>
              <a:rPr sz="919" b="1" i="0">
                <a:solidFill>
                  <a:srgbClr val="1A1A1A"/>
                </a:solidFill>
                <a:latin typeface="Calibri"/>
              </a:rPr>
              <a:t>•  </a:t>
            </a:r>
            <a:r>
              <a:rPr sz="919" b="1" i="0" u="sng">
                <a:solidFill>
                  <a:srgbClr val="1F6FB2"/>
                </a:solidFill>
                <a:latin typeface="Calibri"/>
                <a:hlinkClick r:id="rId19"/>
              </a:rPr>
              <a:t>Shokri (2024)</a:t>
            </a:r>
            <a:r>
              <a:rPr sz="919" b="0" i="0">
                <a:solidFill>
                  <a:srgbClr val="1A1A1A"/>
                </a:solidFill>
                <a:latin typeface="Calibri"/>
              </a:rPr>
              <a:t>, Future Generation Computer Systems — privacy-preserving edge federated learning for mHealth.</a:t>
            </a:r>
            <a:r>
              <a:rPr sz="919" b="1" i="0">
                <a:solidFill>
                  <a:srgbClr val="1F6FB2"/>
                </a:solidFill>
                <a:latin typeface="Calibri"/>
                <a:hlinkClick r:id="rId19"/>
              </a:rPr>
              <a:t> [Open]</a:t>
            </a:r>
          </a:p>
          <a:p>
            <a:pPr>
              <a:spcAft>
                <a:spcPts val="500"/>
              </a:spcAft>
            </a:pPr>
            <a:r>
              <a:rPr sz="919" b="1" i="0">
                <a:solidFill>
                  <a:srgbClr val="1A1A1A"/>
                </a:solidFill>
                <a:latin typeface="Calibri"/>
              </a:rPr>
              <a:t>•  </a:t>
            </a:r>
            <a:r>
              <a:rPr sz="919" b="1" i="0" u="sng">
                <a:solidFill>
                  <a:srgbClr val="1F6FB2"/>
                </a:solidFill>
                <a:latin typeface="Calibri"/>
                <a:hlinkClick r:id="rId20"/>
              </a:rPr>
              <a:t>Alammar et al. (2026)</a:t>
            </a:r>
            <a:r>
              <a:rPr sz="919" b="0" i="0">
                <a:solidFill>
                  <a:srgbClr val="1A1A1A"/>
                </a:solidFill>
                <a:latin typeface="Calibri"/>
              </a:rPr>
              <a:t>, IEEE TCE — federated explainable AI for cardiac alerts on wearables.</a:t>
            </a:r>
            <a:r>
              <a:rPr sz="919" b="1" i="0">
                <a:solidFill>
                  <a:srgbClr val="1F6FB2"/>
                </a:solidFill>
                <a:latin typeface="Calibri"/>
                <a:hlinkClick r:id="rId20"/>
              </a:rPr>
              <a:t> [Open]</a:t>
            </a:r>
          </a:p>
          <a:p>
            <a:pPr>
              <a:spcAft>
                <a:spcPts val="500"/>
              </a:spcAft>
            </a:pPr>
            <a:r>
              <a:rPr sz="919" b="1" i="0">
                <a:solidFill>
                  <a:srgbClr val="1A1A1A"/>
                </a:solidFill>
                <a:latin typeface="Calibri"/>
              </a:rPr>
              <a:t>•  </a:t>
            </a:r>
            <a:r>
              <a:rPr sz="919" b="1" i="0" u="sng">
                <a:solidFill>
                  <a:srgbClr val="1F6FB2"/>
                </a:solidFill>
                <a:latin typeface="Calibri"/>
                <a:hlinkClick r:id="rId21"/>
              </a:rPr>
              <a:t>Nedungadi et al. (2017)</a:t>
            </a:r>
            <a:r>
              <a:rPr sz="919" b="0" i="0">
                <a:solidFill>
                  <a:srgbClr val="1A1A1A"/>
                </a:solidFill>
                <a:latin typeface="Calibri"/>
              </a:rPr>
              <a:t>, J. Medical Systems — rural India monitoring with local languages, health workers, intermittent internet.</a:t>
            </a:r>
            <a:r>
              <a:rPr sz="919" b="1" i="0">
                <a:solidFill>
                  <a:srgbClr val="1F6FB2"/>
                </a:solidFill>
                <a:latin typeface="Calibri"/>
                <a:hlinkClick r:id="rId21"/>
              </a:rPr>
              <a:t> [Open]</a:t>
            </a:r>
          </a:p>
        </p:txBody>
      </p:sp>
      <p:sp>
        <p:nvSpPr>
          <p:cNvPr id="19" name="TextBox 18"/>
          <p:cNvSpPr txBox="1"/>
          <p:nvPr/>
        </p:nvSpPr>
        <p:spPr>
          <a:xfrm>
            <a:off x="6248400" y="5054600"/>
            <a:ext cx="5588000" cy="228600"/>
          </a:xfrm>
          <a:prstGeom prst="rect">
            <a:avLst/>
          </a:prstGeom>
          <a:noFill/>
        </p:spPr>
        <p:txBody>
          <a:bodyPr wrap="square" lIns="25400" rIns="25400" tIns="12700" bIns="12700" anchor="t">
            <a:spAutoFit/>
          </a:bodyPr>
          <a:lstStyle/>
          <a:p>
            <a:r>
              <a:rPr sz="1150" b="1" i="0" u="sng">
                <a:solidFill>
                  <a:srgbClr val="1F6FB2"/>
                </a:solidFill>
                <a:latin typeface="Calibri"/>
              </a:rPr>
              <a:t>Open Datasets</a:t>
            </a:r>
          </a:p>
        </p:txBody>
      </p:sp>
      <p:sp>
        <p:nvSpPr>
          <p:cNvPr id="20" name="TextBox 19"/>
          <p:cNvSpPr txBox="1"/>
          <p:nvPr/>
        </p:nvSpPr>
        <p:spPr>
          <a:xfrm>
            <a:off x="6248400" y="5295900"/>
            <a:ext cx="5588000" cy="1587500"/>
          </a:xfrm>
          <a:prstGeom prst="rect">
            <a:avLst/>
          </a:prstGeom>
          <a:noFill/>
        </p:spPr>
        <p:txBody>
          <a:bodyPr wrap="square" lIns="25400" rIns="25400" tIns="12700" bIns="12700" anchor="t">
            <a:spAutoFit/>
          </a:bodyPr>
          <a:lstStyle/>
          <a:p>
            <a:pPr>
              <a:spcAft>
                <a:spcPts val="500"/>
              </a:spcAft>
            </a:pPr>
            <a:r>
              <a:rPr sz="919" b="1" i="0">
                <a:solidFill>
                  <a:srgbClr val="1A1A1A"/>
                </a:solidFill>
                <a:latin typeface="Calibri"/>
              </a:rPr>
              <a:t>•  </a:t>
            </a:r>
            <a:r>
              <a:rPr sz="919" b="1" i="0" u="sng">
                <a:solidFill>
                  <a:srgbClr val="1F6FB2"/>
                </a:solidFill>
                <a:latin typeface="Calibri"/>
                <a:hlinkClick r:id="rId22"/>
              </a:rPr>
              <a:t>WESAD</a:t>
            </a:r>
            <a:r>
              <a:rPr sz="919" b="0" i="0">
                <a:solidFill>
                  <a:srgbClr val="1A1A1A"/>
                </a:solidFill>
                <a:latin typeface="Calibri"/>
              </a:rPr>
              <a:t> (UCI, 2018) — chest-worn ECG, EDA, temperature, respiration; stress labels.</a:t>
            </a:r>
            <a:r>
              <a:rPr sz="919" b="1" i="0">
                <a:solidFill>
                  <a:srgbClr val="1F6FB2"/>
                </a:solidFill>
                <a:latin typeface="Calibri"/>
                <a:hlinkClick r:id="rId22"/>
              </a:rPr>
              <a:t> [Open]</a:t>
            </a:r>
          </a:p>
          <a:p>
            <a:pPr>
              <a:spcAft>
                <a:spcPts val="500"/>
              </a:spcAft>
            </a:pPr>
            <a:r>
              <a:rPr sz="919" b="1" i="0">
                <a:solidFill>
                  <a:srgbClr val="1A1A1A"/>
                </a:solidFill>
                <a:latin typeface="Calibri"/>
              </a:rPr>
              <a:t>•  </a:t>
            </a:r>
            <a:r>
              <a:rPr sz="919" b="1" i="0" u="sng">
                <a:solidFill>
                  <a:srgbClr val="1F6FB2"/>
                </a:solidFill>
                <a:latin typeface="Calibri"/>
                <a:hlinkClick r:id="rId23"/>
              </a:rPr>
              <a:t>PhysioNet/CinC Challenge 2017</a:t>
            </a:r>
            <a:r>
              <a:rPr sz="919" b="0" i="0">
                <a:solidFill>
                  <a:srgbClr val="1A1A1A"/>
                </a:solidFill>
                <a:latin typeface="Calibri"/>
              </a:rPr>
              <a:t> — 8,528 single-lead ECGs for AF classification.</a:t>
            </a:r>
            <a:r>
              <a:rPr sz="919" b="1" i="0">
                <a:solidFill>
                  <a:srgbClr val="1F6FB2"/>
                </a:solidFill>
                <a:latin typeface="Calibri"/>
                <a:hlinkClick r:id="rId23"/>
              </a:rPr>
              <a:t> [Open]</a:t>
            </a:r>
          </a:p>
          <a:p>
            <a:pPr>
              <a:spcAft>
                <a:spcPts val="500"/>
              </a:spcAft>
            </a:pPr>
            <a:r>
              <a:rPr sz="919" b="1" i="0">
                <a:solidFill>
                  <a:srgbClr val="1A1A1A"/>
                </a:solidFill>
                <a:latin typeface="Calibri"/>
              </a:rPr>
              <a:t>•  </a:t>
            </a:r>
            <a:r>
              <a:rPr sz="919" b="1" i="0" u="sng">
                <a:solidFill>
                  <a:srgbClr val="1F6FB2"/>
                </a:solidFill>
                <a:latin typeface="Calibri"/>
                <a:hlinkClick r:id="rId24"/>
              </a:rPr>
              <a:t>BIDMC PPG &amp; Respiration</a:t>
            </a:r>
            <a:r>
              <a:rPr sz="919" b="0" i="0">
                <a:solidFill>
                  <a:srgbClr val="1A1A1A"/>
                </a:solidFill>
                <a:latin typeface="Calibri"/>
              </a:rPr>
              <a:t> (PhysioNet) — PPG with reference breathing rate and SpO₂.</a:t>
            </a:r>
            <a:r>
              <a:rPr sz="919" b="1" i="0">
                <a:solidFill>
                  <a:srgbClr val="1F6FB2"/>
                </a:solidFill>
                <a:latin typeface="Calibri"/>
                <a:hlinkClick r:id="rId24"/>
              </a:rPr>
              <a:t> [Open]</a:t>
            </a:r>
          </a:p>
          <a:p>
            <a:pPr>
              <a:spcAft>
                <a:spcPts val="500"/>
              </a:spcAft>
            </a:pPr>
            <a:r>
              <a:rPr sz="919" b="1" i="0">
                <a:solidFill>
                  <a:srgbClr val="1A1A1A"/>
                </a:solidFill>
                <a:latin typeface="Calibri"/>
              </a:rPr>
              <a:t>•  </a:t>
            </a:r>
            <a:r>
              <a:rPr sz="919" b="1" i="0" u="sng">
                <a:solidFill>
                  <a:srgbClr val="1F6FB2"/>
                </a:solidFill>
                <a:latin typeface="Calibri"/>
                <a:hlinkClick r:id="rId25"/>
              </a:rPr>
              <a:t>SisFall</a:t>
            </a:r>
            <a:r>
              <a:rPr sz="919" b="0" i="0">
                <a:solidFill>
                  <a:srgbClr val="1A1A1A"/>
                </a:solidFill>
                <a:latin typeface="Calibri"/>
              </a:rPr>
              <a:t> (Sensors, 2017) — 4,504 fall and daily-activity trials incl. elderly.</a:t>
            </a:r>
            <a:r>
              <a:rPr sz="919" b="1" i="0">
                <a:solidFill>
                  <a:srgbClr val="1F6FB2"/>
                </a:solidFill>
                <a:latin typeface="Calibri"/>
                <a:hlinkClick r:id="rId25"/>
              </a:rPr>
              <a:t> [Open]</a:t>
            </a:r>
          </a:p>
          <a:p>
            <a:pPr>
              <a:spcAft>
                <a:spcPts val="500"/>
              </a:spcAft>
            </a:pPr>
            <a:r>
              <a:rPr sz="919" b="1" i="0">
                <a:solidFill>
                  <a:srgbClr val="1A1A1A"/>
                </a:solidFill>
                <a:latin typeface="Calibri"/>
              </a:rPr>
              <a:t>•  </a:t>
            </a:r>
            <a:r>
              <a:rPr sz="919" b="1" i="0" u="sng">
                <a:solidFill>
                  <a:srgbClr val="1F6FB2"/>
                </a:solidFill>
                <a:latin typeface="Calibri"/>
                <a:hlinkClick r:id="rId26"/>
              </a:rPr>
              <a:t>Air Quality Data in India</a:t>
            </a:r>
            <a:r>
              <a:rPr sz="919" b="0" i="0">
                <a:solidFill>
                  <a:srgbClr val="1A1A1A"/>
                </a:solidFill>
                <a:latin typeface="Calibri"/>
              </a:rPr>
              <a:t> (Kaggle) — CPCB city-level AQI and PM2.5, 2015–2020.</a:t>
            </a:r>
            <a:r>
              <a:rPr sz="919" b="1" i="0">
                <a:solidFill>
                  <a:srgbClr val="1F6FB2"/>
                </a:solidFill>
                <a:latin typeface="Calibri"/>
                <a:hlinkClick r:id="rId26"/>
              </a:rPr>
              <a:t> [Open]</a:t>
            </a:r>
          </a:p>
        </p:txBody>
      </p:sp>
      <p:cxnSp>
        <p:nvCxnSpPr>
          <p:cNvPr id="21" name="Connector 20"/>
          <p:cNvCxnSpPr/>
          <p:nvPr/>
        </p:nvCxnSpPr>
        <p:spPr>
          <a:xfrm>
            <a:off x="6096000" y="1066800"/>
            <a:ext cx="0" cy="2032000"/>
          </a:xfrm>
          <a:prstGeom prst="line">
            <a:avLst/>
          </a:prstGeom>
          <a:ln w="12700">
            <a:solidFill>
              <a:srgbClr val="B05450"/>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096000" y="3251200"/>
            <a:ext cx="0" cy="1651000"/>
          </a:xfrm>
          <a:prstGeom prst="line">
            <a:avLst/>
          </a:prstGeom>
          <a:ln w="12700">
            <a:solidFill>
              <a:srgbClr val="B05450"/>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096000" y="5054600"/>
            <a:ext cx="0" cy="1600200"/>
          </a:xfrm>
          <a:prstGeom prst="line">
            <a:avLst/>
          </a:prstGeom>
          <a:ln w="12700">
            <a:solidFill>
              <a:srgbClr val="B05450"/>
            </a:solidFill>
            <a:prstDash val="dash"/>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